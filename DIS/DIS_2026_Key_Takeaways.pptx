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 attended the Data Innovation Summit in Stockholm, May 6–8. Over 3 days I covered sessions on data engineering, AI platforms, and agentic systems. Today I'll walk through the highlights and what they mean for our team.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Days 1 and 2 had parallel sessions in M1–M9 rooms. I focused on DE/DataOps (M2), Platform (M3), and AI/ML (M1). Day 3 switched to industry-specific tracks — I was in the Retail track (i3).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from the Day 1 keynote set the tone for everything that followed. Every session at the summit circled back to this idea: AI strategy requires a data strategy, and data strategy requires a business strategy. Without the business layer, the rest is theatre.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NVIDIA's Day 1 closing keynote. AI capability is doubling every 7 months — faster than Moore's Law ever was. Data centers are evolving into token generators, or AI Factories. The AI infrastructure ecosystem is a 5-layer stack: Energy → Chips → Infrastructure → Models → Applications. Each layer is its own market.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NemoClaw is NVIDIA's open reference architecture for building specialized AI agents. It integrates multi-modal prompts, memory, computer use tools, GPU access, sub-agents running OpenShell, and outputs through Nemotron / Nemo / Dynamo / NIM models. The key design principle: think in orchestration and agent composition, not single LLM calls.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dialogue between Anders Ynnerman (Executive Chairman, Sferical AI) and Anders Arpteg (VP AI &amp; Data, Saab Group). They discussed the physical reality of AI — the infrastructure constraints that are often ignored in AI hype. 1,252 GPUs. 158kW per rack. Liquid cooling is not optional at this scale. AI is not just a software problem.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Siemens presented on how Industrial AI is reshaping industries end to end. The key argument: AI delivers real value when it is grounded in industrial data and domain expertise. Reliability and precision are non-negotiable in industrial settings. This is different from consumer AI — the stakes are factories, energy grids, and transportation systems. For us as data engineers, the lesson is that domain context matters enormously when deploying AI in any production-critical setting.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Meta's session was in the DE &amp; DataOps track (M2). The scale problem they face is extreme: hundreds of distinct storage systems (MySQL, TAO, ADLS, Postgres, Kafka, etc.), millions of data assets, billions of columns. No shared schema language. Tickets don't scale. Manual data understanding is fundamentally broken. Their answer: Privacy Aware Infrastructure — an automated, continuous data understanding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Meta's mental model: treat data understanding as an automated, idempotent pipeline — exactly like CI/CD for code. Four stages: Enumerate (discover all assets, schemas), Schematize (project native schemas into one canonical dataSchema), Classify (heuristics like regex + ML classifiers), Use (apply privacy actions). This pipeline runs continuously. Each stage is monitored and automated.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innovation: moving from nightly batch classification (days of delay) to real-time semantics powered by CDC. After a table is created, classification now happens in minutes instead of days. Privacy becomes a pipeline property — not a speedbump. This prevents downstream pipeline poisoning. ML access control is applied automatically at classification time. Blog post: engineering.fb.com/2025/04/28/security/how-meta-understands-data-at-scale/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Spotify's session was in the AI &amp; ML track (M1). They power personalization for 100M+ users across a massive catalog. The evolution: human-curated playlists → ML prediction models → Generative AI. Key challenge: pre-trained LLMs don't speak 'Spotify' — they have world knowledge but lack catalog-specific intelligence. Solution: ground in catalog, align with behavior, optimize for goals. New features: DJ, Prompt to Playlist, Taste Profile.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Google's Day 2 keynote introduced the Agentic Data Cloud. The central shift: from data as a system of intelligence (reactive dashboards you query) to a system of action (agents that proactively act). Data Agents serve every role: data analysts query and analyze, developers build intelligent apps, data scientists get models that work, ML engineers deploy to impact, business users get insights from objectives.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Google's conversational agents are Gemini Enterprise integrated across the full data stack. Looker gets natural language BI for business users. BigQuery gets AI analytics for practitioners. Lakehouse gets NL prompts against Delta/Hive data. The promise: any employee can get answers and make decisions instantly without needing SQL or query skills.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Data Agent Kit: turns every IDE, Notebook, and terminal into a native extension of Google's Data Cloud. It provides MCP Tools (Model Context Protocol integration), Skills (portable agentic capabilities), Plugins (ecosystem extensions), and IDE Extensions (VS Code and others). The agentic ecosystem includes Codex, Claude, and Gemini — open choice. Meeting developers where they live.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 Initio session (Day 2) framed agentic readiness around four 'fabrics'. Knowledge Fabric = the metadata layer, your enterprise semantic graph. Governance Fabric = rules, policies, lineage, compliance. Compute Fabric = the execution engine, distributed processing. AI Fabric = GenAI-powered data management using SLMs. MCP is called out as a critical component of the AI fabric. Key insight: everything is metadata-driven.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Maria Wiss shared the most sobering statistic of the conference: only 32% of structured data and 25% of unstructured data is currently AI-ready. Before jumping into AI projects, organizations need: 1) Strict business alignment — be specific about what an agent will do. 2) Solid data foundation — multicloud support, open APIs, governance. 3) The components of the agentic enterprise in place.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Acceldata presented the concept of a Broad Enterprise Context Window — essentially what you need to give AI agents enough context to be useful in an enterprise setting. Three categories: Data Assets (cloud, on-prem, hybrid; structured, streaming, unstructured), Knowledge Bases (legacy governance, data catalogs, business documents), and Other Artifacts (alerts, tickets). MCP is the connectivity layer that wires these together.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Day 3 retail panel was the most grounding session of the conference. Real practitioners from companies like Elgiganten sharing what actually works in the field. The main message: you don't fail because of the technology. You fail because your data is wrong, your people aren't aligned, and your AI use cases aren't specific enough. Fix the data. Choose the right CDP. Involve everyone. Educate constantly.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Annie from ICA presented on the Analytics and Decision Intelligence stage, M5. ICA is a 100-year-old Swedish grocery company. Their message: it is not just about the data or the technology — the people side of the change journey is what makes or breaks success. Knowing which tool to use is a skill in itself. People alignment is the actual blocker, not technology. This resonates with the retail panel on day 3 and is directly relevant to us: even the best pipelines fail if teams are not aligned.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mantras from the Day 3 panel that I'm bringing back. ABT: Always Be Testing — small iterations, fail fast, learn. What you cannot measure doesn't exist — if you're not tracking it, it's not improving. Progression over Perfection — don't wait for perfect data or the perfect model. Ship, observe, iterate. These three apply directly to our data engineering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actionable takeaways for our team. Each maps directly to sessions at DIS 2026. 1: Fix data quality — AI amplifies both good and bad data equally. 2: Invest in metadata now — it's the foundation of every agentic system we saw. 3: Watch MCP — it appeared in every architecture. 4: Right-size models — don't default to frontier. 5: Build data AND business literacy across the team.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discuss any session in detail. Full notes from each session are available. The conference overall reinforced that the data engineering fundamentals — quality, lineage, cataloging, observability — matter more than ever in an agentic world.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3200400" y="822960"/>
            <a:ext cx="5760720" cy="256032"/>
          </a:xfrm>
          <a:prstGeom prst="rect">
            <a:avLst/>
          </a:prstGeom>
          <a:solidFill>
            <a:srgbClr val="02141E"/>
          </a:solidFill>
          <a:ln w="762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22D3EE"/>
                </a:solidFill>
              </a:rPr>
              <a:t>DATA INNOVATION SUMMIT 2026 · STOCKHOLM, SWEDEN</a:t>
            </a:r>
          </a:p>
        </p:txBody>
      </p:sp>
      <p:sp>
        <p:nvSpPr>
          <p:cNvPr id="3" name="TextBox 2"/>
          <p:cNvSpPr txBox="1"/>
          <p:nvPr/>
        </p:nvSpPr>
        <p:spPr>
          <a:xfrm>
            <a:off x="502920" y="1234440"/>
            <a:ext cx="11185855" cy="1463040"/>
          </a:xfrm>
          <a:prstGeom prst="rect">
            <a:avLst/>
          </a:prstGeom>
          <a:noFill/>
        </p:spPr>
        <p:txBody>
          <a:bodyPr wrap="square">
            <a:spAutoFit/>
          </a:bodyPr>
          <a:lstStyle/>
          <a:p>
            <a:pPr algn="ctr"/>
            <a:r>
              <a:rPr sz="5200" b="1" i="0">
                <a:solidFill>
                  <a:srgbClr val="F1F5F9"/>
                </a:solidFill>
              </a:rPr>
              <a:t>Key Takeaways</a:t>
            </a:r>
          </a:p>
        </p:txBody>
      </p:sp>
      <p:sp>
        <p:nvSpPr>
          <p:cNvPr id="4" name="TextBox 3"/>
          <p:cNvSpPr txBox="1"/>
          <p:nvPr/>
        </p:nvSpPr>
        <p:spPr>
          <a:xfrm>
            <a:off x="502920" y="2788920"/>
            <a:ext cx="11185855" cy="457200"/>
          </a:xfrm>
          <a:prstGeom prst="rect">
            <a:avLst/>
          </a:prstGeom>
          <a:noFill/>
        </p:spPr>
        <p:txBody>
          <a:bodyPr wrap="square">
            <a:spAutoFit/>
          </a:bodyPr>
          <a:lstStyle/>
          <a:p>
            <a:pPr algn="ctr"/>
            <a:r>
              <a:rPr sz="1600" b="0" i="0">
                <a:solidFill>
                  <a:srgbClr val="94A3B8"/>
                </a:solidFill>
              </a:rPr>
              <a:t>3 days · 9 parallel tracks · Sessions from Meta, Google,NVIDIA, Spotify &amp; more</a:t>
            </a:r>
          </a:p>
        </p:txBody>
      </p:sp>
      <p:sp>
        <p:nvSpPr>
          <p:cNvPr id="5" name="TextBox 4"/>
          <p:cNvSpPr txBox="1"/>
          <p:nvPr/>
        </p:nvSpPr>
        <p:spPr>
          <a:xfrm>
            <a:off x="502920" y="3291840"/>
            <a:ext cx="11185855" cy="320040"/>
          </a:xfrm>
          <a:prstGeom prst="rect">
            <a:avLst/>
          </a:prstGeom>
          <a:noFill/>
        </p:spPr>
        <p:txBody>
          <a:bodyPr wrap="square">
            <a:spAutoFit/>
          </a:bodyPr>
          <a:lstStyle/>
          <a:p>
            <a:pPr algn="ctr"/>
            <a:r>
              <a:rPr sz="1200" b="0" i="0">
                <a:solidFill>
                  <a:srgbClr val="94A3B8"/>
                </a:solidFill>
              </a:rPr>
              <a:t>May 6 – 8, 2026 · Presenting to: Data Engineers &amp; Managers</a:t>
            </a:r>
          </a:p>
        </p:txBody>
      </p:sp>
      <p:sp>
        <p:nvSpPr>
          <p:cNvPr id="6" name="Rectangle 5"/>
          <p:cNvSpPr/>
          <p:nvPr/>
        </p:nvSpPr>
        <p:spPr>
          <a:xfrm>
            <a:off x="2319375" y="3794760"/>
            <a:ext cx="1737360" cy="114300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19375" y="3867912"/>
            <a:ext cx="1737360" cy="566928"/>
          </a:xfrm>
          <a:prstGeom prst="rect">
            <a:avLst/>
          </a:prstGeom>
          <a:noFill/>
        </p:spPr>
        <p:txBody>
          <a:bodyPr wrap="square">
            <a:spAutoFit/>
          </a:bodyPr>
          <a:lstStyle/>
          <a:p>
            <a:pPr algn="ctr"/>
            <a:r>
              <a:rPr sz="2800" b="1" i="0">
                <a:solidFill>
                  <a:srgbClr val="6366F1"/>
                </a:solidFill>
              </a:rPr>
              <a:t>3</a:t>
            </a:r>
          </a:p>
        </p:txBody>
      </p:sp>
      <p:sp>
        <p:nvSpPr>
          <p:cNvPr id="8" name="TextBox 7"/>
          <p:cNvSpPr txBox="1"/>
          <p:nvPr/>
        </p:nvSpPr>
        <p:spPr>
          <a:xfrm>
            <a:off x="2319375" y="4453128"/>
            <a:ext cx="1737360" cy="411480"/>
          </a:xfrm>
          <a:prstGeom prst="rect">
            <a:avLst/>
          </a:prstGeom>
          <a:noFill/>
        </p:spPr>
        <p:txBody>
          <a:bodyPr wrap="square">
            <a:spAutoFit/>
          </a:bodyPr>
          <a:lstStyle/>
          <a:p>
            <a:pPr algn="ctr"/>
            <a:r>
              <a:rPr sz="900" b="0" i="0">
                <a:solidFill>
                  <a:srgbClr val="94A3B8"/>
                </a:solidFill>
              </a:rPr>
              <a:t>Days</a:t>
            </a:r>
          </a:p>
        </p:txBody>
      </p:sp>
      <p:sp>
        <p:nvSpPr>
          <p:cNvPr id="9" name="Rectangle 8"/>
          <p:cNvSpPr/>
          <p:nvPr/>
        </p:nvSpPr>
        <p:spPr>
          <a:xfrm>
            <a:off x="4257903" y="3794760"/>
            <a:ext cx="1737360" cy="114300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7903" y="3867912"/>
            <a:ext cx="1737360" cy="566928"/>
          </a:xfrm>
          <a:prstGeom prst="rect">
            <a:avLst/>
          </a:prstGeom>
          <a:noFill/>
        </p:spPr>
        <p:txBody>
          <a:bodyPr wrap="square">
            <a:spAutoFit/>
          </a:bodyPr>
          <a:lstStyle/>
          <a:p>
            <a:pPr algn="ctr"/>
            <a:r>
              <a:rPr sz="2800" b="1" i="0">
                <a:solidFill>
                  <a:srgbClr val="6366F1"/>
                </a:solidFill>
              </a:rPr>
              <a:t>9+</a:t>
            </a:r>
          </a:p>
        </p:txBody>
      </p:sp>
      <p:sp>
        <p:nvSpPr>
          <p:cNvPr id="11" name="TextBox 10"/>
          <p:cNvSpPr txBox="1"/>
          <p:nvPr/>
        </p:nvSpPr>
        <p:spPr>
          <a:xfrm>
            <a:off x="4257903" y="4453128"/>
            <a:ext cx="1737360" cy="411480"/>
          </a:xfrm>
          <a:prstGeom prst="rect">
            <a:avLst/>
          </a:prstGeom>
          <a:noFill/>
        </p:spPr>
        <p:txBody>
          <a:bodyPr wrap="square">
            <a:spAutoFit/>
          </a:bodyPr>
          <a:lstStyle/>
          <a:p>
            <a:pPr algn="ctr"/>
            <a:r>
              <a:rPr sz="900" b="0" i="0">
                <a:solidFill>
                  <a:srgbClr val="94A3B8"/>
                </a:solidFill>
              </a:rPr>
              <a:t>Tracks</a:t>
            </a:r>
          </a:p>
        </p:txBody>
      </p:sp>
      <p:sp>
        <p:nvSpPr>
          <p:cNvPr id="12" name="Rectangle 11"/>
          <p:cNvSpPr/>
          <p:nvPr/>
        </p:nvSpPr>
        <p:spPr>
          <a:xfrm>
            <a:off x="6196431" y="3794760"/>
            <a:ext cx="1737360" cy="114300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6431" y="3867912"/>
            <a:ext cx="1737360" cy="566928"/>
          </a:xfrm>
          <a:prstGeom prst="rect">
            <a:avLst/>
          </a:prstGeom>
          <a:noFill/>
        </p:spPr>
        <p:txBody>
          <a:bodyPr wrap="square">
            <a:spAutoFit/>
          </a:bodyPr>
          <a:lstStyle/>
          <a:p>
            <a:pPr algn="ctr"/>
            <a:r>
              <a:rPr sz="2800" b="1" i="0">
                <a:solidFill>
                  <a:srgbClr val="6366F1"/>
                </a:solidFill>
              </a:rPr>
              <a:t>7</a:t>
            </a:r>
          </a:p>
        </p:txBody>
      </p:sp>
      <p:sp>
        <p:nvSpPr>
          <p:cNvPr id="14" name="TextBox 13"/>
          <p:cNvSpPr txBox="1"/>
          <p:nvPr/>
        </p:nvSpPr>
        <p:spPr>
          <a:xfrm>
            <a:off x="6196431" y="4453128"/>
            <a:ext cx="1737360" cy="411480"/>
          </a:xfrm>
          <a:prstGeom prst="rect">
            <a:avLst/>
          </a:prstGeom>
          <a:noFill/>
        </p:spPr>
        <p:txBody>
          <a:bodyPr wrap="square">
            <a:spAutoFit/>
          </a:bodyPr>
          <a:lstStyle/>
          <a:p>
            <a:pPr algn="ctr"/>
            <a:r>
              <a:rPr sz="900" b="0" i="0">
                <a:solidFill>
                  <a:srgbClr val="94A3B8"/>
                </a:solidFill>
              </a:rPr>
              <a:t>Companies Deep-Dived</a:t>
            </a:r>
          </a:p>
        </p:txBody>
      </p:sp>
      <p:sp>
        <p:nvSpPr>
          <p:cNvPr id="15" name="Rectangle 14"/>
          <p:cNvSpPr/>
          <p:nvPr/>
        </p:nvSpPr>
        <p:spPr>
          <a:xfrm>
            <a:off x="8134959" y="3794760"/>
            <a:ext cx="1737360" cy="114300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4959" y="3867912"/>
            <a:ext cx="1737360" cy="566928"/>
          </a:xfrm>
          <a:prstGeom prst="rect">
            <a:avLst/>
          </a:prstGeom>
          <a:noFill/>
        </p:spPr>
        <p:txBody>
          <a:bodyPr wrap="square">
            <a:spAutoFit/>
          </a:bodyPr>
          <a:lstStyle/>
          <a:p>
            <a:pPr algn="ctr"/>
            <a:r>
              <a:rPr sz="2800" b="1" i="0">
                <a:solidFill>
                  <a:srgbClr val="6366F1"/>
                </a:solidFill>
              </a:rPr>
              <a:t>1</a:t>
            </a:r>
          </a:p>
        </p:txBody>
      </p:sp>
      <p:sp>
        <p:nvSpPr>
          <p:cNvPr id="17" name="TextBox 16"/>
          <p:cNvSpPr txBox="1"/>
          <p:nvPr/>
        </p:nvSpPr>
        <p:spPr>
          <a:xfrm>
            <a:off x="8134959" y="4453128"/>
            <a:ext cx="1737360" cy="411480"/>
          </a:xfrm>
          <a:prstGeom prst="rect">
            <a:avLst/>
          </a:prstGeom>
          <a:noFill/>
        </p:spPr>
        <p:txBody>
          <a:bodyPr wrap="square">
            <a:spAutoFit/>
          </a:bodyPr>
          <a:lstStyle/>
          <a:p>
            <a:pPr algn="ctr"/>
            <a:r>
              <a:rPr sz="900" b="0" i="0">
                <a:solidFill>
                  <a:srgbClr val="94A3B8"/>
                </a:solidFill>
              </a:rPr>
              <a:t>Overarching Theme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502920" y="502920"/>
            <a:ext cx="5943600" cy="256032"/>
          </a:xfrm>
          <a:prstGeom prst="rect">
            <a:avLst/>
          </a:prstGeom>
          <a:solidFill>
            <a:srgbClr val="02141E"/>
          </a:solidFill>
          <a:ln w="762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22D3EE"/>
                </a:solidFill>
              </a:rPr>
              <a:t>THE SUMMIT AT A GLANCE</a:t>
            </a:r>
          </a:p>
        </p:txBody>
      </p:sp>
      <p:sp>
        <p:nvSpPr>
          <p:cNvPr id="3" name="TextBox 2"/>
          <p:cNvSpPr txBox="1"/>
          <p:nvPr/>
        </p:nvSpPr>
        <p:spPr>
          <a:xfrm>
            <a:off x="502920" y="841248"/>
            <a:ext cx="11185855" cy="841248"/>
          </a:xfrm>
          <a:prstGeom prst="rect">
            <a:avLst/>
          </a:prstGeom>
          <a:noFill/>
        </p:spPr>
        <p:txBody>
          <a:bodyPr wrap="square">
            <a:spAutoFit/>
          </a:bodyPr>
          <a:lstStyle/>
          <a:p>
            <a:pPr algn="l"/>
            <a:r>
              <a:rPr sz="2800" b="1" i="0">
                <a:solidFill>
                  <a:srgbClr val="F1F5F9"/>
                </a:solidFill>
              </a:rPr>
              <a:t>3 Days. Multiple Tracks. One Theme.</a:t>
            </a:r>
          </a:p>
        </p:txBody>
      </p:sp>
      <p:sp>
        <p:nvSpPr>
          <p:cNvPr id="4" name="Rectangle 3"/>
          <p:cNvSpPr/>
          <p:nvPr/>
        </p:nvSpPr>
        <p:spPr>
          <a:xfrm>
            <a:off x="502920" y="1737360"/>
            <a:ext cx="3576218" cy="4937760"/>
          </a:xfrm>
          <a:prstGeom prst="rect">
            <a:avLst/>
          </a:prstGeom>
          <a:solidFill>
            <a:srgbClr val="111827"/>
          </a:solidFill>
          <a:ln w="63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47088"/>
            <a:ext cx="3301898" cy="292608"/>
          </a:xfrm>
          <a:prstGeom prst="rect">
            <a:avLst/>
          </a:prstGeom>
          <a:noFill/>
        </p:spPr>
        <p:txBody>
          <a:bodyPr wrap="square">
            <a:spAutoFit/>
          </a:bodyPr>
          <a:lstStyle/>
          <a:p>
            <a:pPr algn="l"/>
            <a:r>
              <a:rPr sz="1000" b="1" i="0">
                <a:solidFill>
                  <a:srgbClr val="10B981"/>
                </a:solidFill>
              </a:rPr>
              <a:t>Day 1 · May 6</a:t>
            </a:r>
          </a:p>
        </p:txBody>
      </p:sp>
      <p:sp>
        <p:nvSpPr>
          <p:cNvPr id="6" name="TextBox 5"/>
          <p:cNvSpPr txBox="1"/>
          <p:nvPr/>
        </p:nvSpPr>
        <p:spPr>
          <a:xfrm>
            <a:off x="640080" y="2176272"/>
            <a:ext cx="3301898" cy="4370832"/>
          </a:xfrm>
          <a:prstGeom prst="rect">
            <a:avLst/>
          </a:prstGeom>
          <a:noFill/>
        </p:spPr>
        <p:txBody>
          <a:bodyPr wrap="square">
            <a:spAutoFit/>
          </a:bodyPr>
          <a:lstStyle/>
          <a:p>
            <a:pPr algn="l"/>
            <a:r>
              <a:rPr sz="1100" b="0" i="0">
                <a:solidFill>
                  <a:srgbClr val="94A3B8"/>
                </a:solidFill>
              </a:rPr>
              <a:t>Parallel tracks M1–M9 M1: AI &amp; MLM2: DE &amp; DataOpsM3: Platform &amp; Architecture I attended: DE, Platform &amp; AI/ML</a:t>
            </a:r>
          </a:p>
        </p:txBody>
      </p:sp>
      <p:sp>
        <p:nvSpPr>
          <p:cNvPr id="7" name="Rectangle 6"/>
          <p:cNvSpPr/>
          <p:nvPr/>
        </p:nvSpPr>
        <p:spPr>
          <a:xfrm>
            <a:off x="4307738" y="1737360"/>
            <a:ext cx="3576218" cy="4937760"/>
          </a:xfrm>
          <a:prstGeom prst="rect">
            <a:avLst/>
          </a:prstGeom>
          <a:solidFill>
            <a:srgbClr val="111827"/>
          </a:solid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4898" y="1847088"/>
            <a:ext cx="3301898" cy="292608"/>
          </a:xfrm>
          <a:prstGeom prst="rect">
            <a:avLst/>
          </a:prstGeom>
          <a:noFill/>
        </p:spPr>
        <p:txBody>
          <a:bodyPr wrap="square">
            <a:spAutoFit/>
          </a:bodyPr>
          <a:lstStyle/>
          <a:p>
            <a:pPr algn="l"/>
            <a:r>
              <a:rPr sz="1000" b="1" i="0">
                <a:solidFill>
                  <a:srgbClr val="818CF8"/>
                </a:solidFill>
              </a:rPr>
              <a:t>Day 2 · May 7</a:t>
            </a:r>
          </a:p>
        </p:txBody>
      </p:sp>
      <p:sp>
        <p:nvSpPr>
          <p:cNvPr id="9" name="TextBox 8"/>
          <p:cNvSpPr txBox="1"/>
          <p:nvPr/>
        </p:nvSpPr>
        <p:spPr>
          <a:xfrm>
            <a:off x="4444898" y="2176272"/>
            <a:ext cx="3301898" cy="4370832"/>
          </a:xfrm>
          <a:prstGeom prst="rect">
            <a:avLst/>
          </a:prstGeom>
          <a:noFill/>
        </p:spPr>
        <p:txBody>
          <a:bodyPr wrap="square">
            <a:spAutoFit/>
          </a:bodyPr>
          <a:lstStyle/>
          <a:p>
            <a:pPr algn="l"/>
            <a:r>
              <a:rPr sz="1100" b="0" i="0">
                <a:solidFill>
                  <a:srgbClr val="94A3B8"/>
                </a:solidFill>
              </a:rPr>
              <a:t>Parallel tracks M1–M9 continue Keynote: Google Agentic Data CloudSessions: Agentic readiness, Data quality, Knowledge fabrics I attended: Platform &amp; AI/ML</a:t>
            </a:r>
          </a:p>
        </p:txBody>
      </p:sp>
      <p:sp>
        <p:nvSpPr>
          <p:cNvPr id="10" name="Rectangle 9"/>
          <p:cNvSpPr/>
          <p:nvPr/>
        </p:nvSpPr>
        <p:spPr>
          <a:xfrm>
            <a:off x="8112556" y="1737360"/>
            <a:ext cx="3576218" cy="4937760"/>
          </a:xfrm>
          <a:prstGeom prst="rect">
            <a:avLst/>
          </a:prstGeom>
          <a:solidFill>
            <a:srgbClr val="111827"/>
          </a:solidFill>
          <a:ln w="63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9716" y="1847088"/>
            <a:ext cx="3301898" cy="292608"/>
          </a:xfrm>
          <a:prstGeom prst="rect">
            <a:avLst/>
          </a:prstGeom>
          <a:noFill/>
        </p:spPr>
        <p:txBody>
          <a:bodyPr wrap="square">
            <a:spAutoFit/>
          </a:bodyPr>
          <a:lstStyle/>
          <a:p>
            <a:pPr algn="l"/>
            <a:r>
              <a:rPr sz="1000" b="1" i="0">
                <a:solidFill>
                  <a:srgbClr val="F59E0B"/>
                </a:solidFill>
              </a:rPr>
              <a:t>Day 3 · May 8</a:t>
            </a:r>
          </a:p>
        </p:txBody>
      </p:sp>
      <p:sp>
        <p:nvSpPr>
          <p:cNvPr id="12" name="TextBox 11"/>
          <p:cNvSpPr txBox="1"/>
          <p:nvPr/>
        </p:nvSpPr>
        <p:spPr>
          <a:xfrm>
            <a:off x="8249716" y="2176272"/>
            <a:ext cx="3301898" cy="4370832"/>
          </a:xfrm>
          <a:prstGeom prst="rect">
            <a:avLst/>
          </a:prstGeom>
          <a:noFill/>
        </p:spPr>
        <p:txBody>
          <a:bodyPr wrap="square">
            <a:spAutoFit/>
          </a:bodyPr>
          <a:lstStyle/>
          <a:p>
            <a:pPr algn="l"/>
            <a:r>
              <a:rPr sz="1100" b="0" i="0">
                <a:solidFill>
                  <a:srgbClr val="94A3B8"/>
                </a:solidFill>
              </a:rPr>
              <a:t>Industry tracks i1–i5 i1: Finance &amp; Telecomi2: Manufacturing &amp; Energyi3: Retail, E-Commerce &amp; Logistics I attended: Retail track (i3)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TextBox 1"/>
          <p:cNvSpPr txBox="1"/>
          <p:nvPr/>
        </p:nvSpPr>
        <p:spPr>
          <a:xfrm>
            <a:off x="502920" y="1828800"/>
            <a:ext cx="11185855" cy="2286000"/>
          </a:xfrm>
          <a:prstGeom prst="rect">
            <a:avLst/>
          </a:prstGeom>
          <a:noFill/>
        </p:spPr>
        <p:txBody>
          <a:bodyPr wrap="square">
            <a:spAutoFit/>
          </a:bodyPr>
          <a:lstStyle/>
          <a:p>
            <a:pPr algn="ctr"/>
            <a:r>
              <a:rPr sz="3000" b="1" i="0">
                <a:solidFill>
                  <a:srgbClr val="F1F5F9"/>
                </a:solidFill>
              </a:rPr>
              <a:t>""There is no AI strategywithout a data strategy""</a:t>
            </a:r>
          </a:p>
        </p:txBody>
      </p:sp>
      <p:sp>
        <p:nvSpPr>
          <p:cNvPr id="3" name="TextBox 2"/>
          <p:cNvSpPr txBox="1"/>
          <p:nvPr/>
        </p:nvSpPr>
        <p:spPr>
          <a:xfrm>
            <a:off x="502920" y="4206240"/>
            <a:ext cx="11185855" cy="384048"/>
          </a:xfrm>
          <a:prstGeom prst="rect">
            <a:avLst/>
          </a:prstGeom>
          <a:noFill/>
        </p:spPr>
        <p:txBody>
          <a:bodyPr wrap="square">
            <a:spAutoFit/>
          </a:bodyPr>
          <a:lstStyle/>
          <a:p>
            <a:pPr algn="ctr"/>
            <a:r>
              <a:rPr sz="1400" b="0" i="0">
                <a:solidFill>
                  <a:srgbClr val="94A3B8"/>
                </a:solidFill>
              </a:rPr>
              <a:t>(But there is no need for either without a business strategy)</a:t>
            </a:r>
          </a:p>
        </p:txBody>
      </p:sp>
      <p:sp>
        <p:nvSpPr>
          <p:cNvPr id="4" name="TextBox 3"/>
          <p:cNvSpPr txBox="1"/>
          <p:nvPr/>
        </p:nvSpPr>
        <p:spPr>
          <a:xfrm>
            <a:off x="502920" y="4617720"/>
            <a:ext cx="11185855" cy="384048"/>
          </a:xfrm>
          <a:prstGeom prst="rect">
            <a:avLst/>
          </a:prstGeom>
          <a:noFill/>
        </p:spPr>
        <p:txBody>
          <a:bodyPr wrap="square">
            <a:spAutoFit/>
          </a:bodyPr>
          <a:lstStyle/>
          <a:p>
            <a:pPr algn="ctr"/>
            <a:r>
              <a:rPr sz="1400" b="0" i="0">
                <a:solidFill>
                  <a:srgbClr val="94A3B8"/>
                </a:solidFill>
              </a:rPr>
              <a:t>— DIS 2026 Opening Keynote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41408"/>
          </a:solidFill>
          <a:ln w="762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86EFAC"/>
                </a:solidFill>
              </a:rPr>
              <a:t>NVIDIA · DAY 1 CLOSING KEYNOTE</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AI is Accelerating Faster Than You Think</a:t>
            </a:r>
          </a:p>
        </p:txBody>
      </p:sp>
      <p:sp>
        <p:nvSpPr>
          <p:cNvPr id="5" name="TextBox 4"/>
          <p:cNvSpPr txBox="1"/>
          <p:nvPr/>
        </p:nvSpPr>
        <p:spPr>
          <a:xfrm>
            <a:off x="502920" y="1847088"/>
            <a:ext cx="5532120" cy="4873752"/>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AI capability doubles every 7 months — faster than Moore's Law</a:t>
            </a:r>
          </a:p>
          <a:p>
            <a:pPr>
              <a:spcBef>
                <a:spcPts val="400"/>
              </a:spcBef>
            </a:pPr>
            <a:r>
              <a:rPr sz="1100">
                <a:solidFill>
                  <a:srgbClr val="06B6D4"/>
                </a:solidFill>
              </a:rPr>
              <a:t>→  </a:t>
            </a:r>
            <a:r>
              <a:rPr sz="1200">
                <a:solidFill>
                  <a:srgbClr val="94A3B8"/>
                </a:solidFill>
              </a:rPr>
              <a:t>Data centers are becoming AI Factories — token generators</a:t>
            </a:r>
          </a:p>
          <a:p>
            <a:pPr>
              <a:spcBef>
                <a:spcPts val="400"/>
              </a:spcBef>
            </a:pPr>
            <a:r>
              <a:rPr sz="1100">
                <a:solidFill>
                  <a:srgbClr val="06B6D4"/>
                </a:solidFill>
              </a:rPr>
              <a:t>→  </a:t>
            </a:r>
            <a:r>
              <a:rPr sz="1200">
                <a:solidFill>
                  <a:srgbClr val="94A3B8"/>
                </a:solidFill>
              </a:rPr>
              <a:t>AI Infrastructure is a 5-layer ecosystem:Energy → Chips → Infrastructure → Models → Applications</a:t>
            </a:r>
          </a:p>
          <a:p>
            <a:pPr>
              <a:spcBef>
                <a:spcPts val="400"/>
              </a:spcBef>
            </a:pPr>
            <a:r>
              <a:rPr sz="1100">
                <a:solidFill>
                  <a:srgbClr val="06B6D4"/>
                </a:solidFill>
              </a:rPr>
              <a:t>→  </a:t>
            </a:r>
            <a:r>
              <a:rPr sz="1200">
                <a:solidFill>
                  <a:srgbClr val="94A3B8"/>
                </a:solidFill>
              </a:rPr>
              <a:t>Use lightweight open-source models where frontier models aren't needed — save cost in tokens</a:t>
            </a:r>
          </a:p>
          <a:p>
            <a:pPr>
              <a:spcBef>
                <a:spcPts val="400"/>
              </a:spcBef>
            </a:pPr>
            <a:r>
              <a:rPr sz="1100">
                <a:solidFill>
                  <a:srgbClr val="06B6D4"/>
                </a:solidFill>
              </a:rPr>
              <a:t>→  </a:t>
            </a:r>
            <a:r>
              <a:rPr sz="1200">
                <a:solidFill>
                  <a:srgbClr val="94A3B8"/>
                </a:solidFill>
              </a:rPr>
              <a:t>Agent-to-agent communication is the next frontier after post-training</a:t>
            </a:r>
          </a:p>
        </p:txBody>
      </p:sp>
      <p:pic>
        <p:nvPicPr>
          <p:cNvPr id="6" name="Picture 5"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41408"/>
          </a:solidFill>
          <a:ln w="762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86EFAC"/>
                </a:solidFill>
              </a:rPr>
              <a:t>NVIDIA · NEMOCLAW / OPENCLAW</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Blueprint for Specialized AI Agents</a:t>
            </a:r>
          </a:p>
        </p:txBody>
      </p:sp>
      <p:sp>
        <p:nvSpPr>
          <p:cNvPr id="5" name="TextBox 4"/>
          <p:cNvSpPr txBox="1"/>
          <p:nvPr/>
        </p:nvSpPr>
        <p:spPr>
          <a:xfrm>
            <a:off x="502920" y="1847088"/>
            <a:ext cx="5532120" cy="4873752"/>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NemoClaw = reference architecture for building specialized agentic systems</a:t>
            </a:r>
          </a:p>
          <a:p>
            <a:pPr>
              <a:spcBef>
                <a:spcPts val="400"/>
              </a:spcBef>
            </a:pPr>
            <a:r>
              <a:rPr sz="1100">
                <a:solidFill>
                  <a:srgbClr val="06B6D4"/>
                </a:solidFill>
              </a:rPr>
              <a:t>→  </a:t>
            </a:r>
            <a:r>
              <a:rPr sz="1200">
                <a:solidFill>
                  <a:srgbClr val="94A3B8"/>
                </a:solidFill>
              </a:rPr>
              <a:t>Integrates: memory, tools, sub-agents, multi-modal prompts</a:t>
            </a:r>
          </a:p>
          <a:p>
            <a:pPr>
              <a:spcBef>
                <a:spcPts val="400"/>
              </a:spcBef>
            </a:pPr>
            <a:r>
              <a:rPr sz="1100">
                <a:solidFill>
                  <a:srgbClr val="06B6D4"/>
                </a:solidFill>
              </a:rPr>
              <a:t>→  </a:t>
            </a:r>
            <a:r>
              <a:rPr sz="1200">
                <a:solidFill>
                  <a:srgbClr val="94A3B8"/>
                </a:solidFill>
              </a:rPr>
              <a:t>Model outputs via Nemotron, Nemo, Dynamo, NIM</a:t>
            </a:r>
          </a:p>
          <a:p>
            <a:pPr>
              <a:spcBef>
                <a:spcPts val="400"/>
              </a:spcBef>
            </a:pPr>
            <a:r>
              <a:rPr sz="1100">
                <a:solidFill>
                  <a:srgbClr val="06B6D4"/>
                </a:solidFill>
              </a:rPr>
              <a:t>→  </a:t>
            </a:r>
            <a:r>
              <a:rPr sz="1200">
                <a:solidFill>
                  <a:srgbClr val="94A3B8"/>
                </a:solidFill>
              </a:rPr>
              <a:t>Sub-agents communicate via OpenShell</a:t>
            </a:r>
          </a:p>
          <a:p>
            <a:pPr>
              <a:spcBef>
                <a:spcPts val="400"/>
              </a:spcBef>
            </a:pPr>
            <a:r>
              <a:rPr sz="1100">
                <a:solidFill>
                  <a:srgbClr val="06B6D4"/>
                </a:solidFill>
              </a:rPr>
              <a:t>→  </a:t>
            </a:r>
            <a:r>
              <a:rPr sz="1200">
                <a:solidFill>
                  <a:srgbClr val="94A3B8"/>
                </a:solidFill>
              </a:rPr>
              <a:t>Key lesson: design for agent orchestration, not single model calls</a:t>
            </a:r>
          </a:p>
        </p:txBody>
      </p:sp>
      <p:pic>
        <p:nvPicPr>
          <p:cNvPr id="6" name="Picture 5"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1E0838"/>
          </a:solidFill>
          <a:ln w="762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C084FC"/>
                </a:solidFill>
              </a:rPr>
              <a:t>SFERICAL AI · DAY 1 KEYNOTE</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The Physical Reality of AI</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Dialogue: Anders Ynnerman (Sferical AI) &amp; Anders Arpteg (Saab VP AI &amp; Data)</a:t>
            </a:r>
          </a:p>
        </p:txBody>
      </p:sp>
      <p:sp>
        <p:nvSpPr>
          <p:cNvPr id="6" name="TextBox 5"/>
          <p:cNvSpPr txBox="1"/>
          <p:nvPr/>
        </p:nvSpPr>
        <p:spPr>
          <a:xfrm>
            <a:off x="502920" y="2231136"/>
            <a:ext cx="5532120" cy="4489704"/>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AI infrastructure requires massive physical investment</a:t>
            </a:r>
          </a:p>
          <a:p>
            <a:pPr>
              <a:spcBef>
                <a:spcPts val="400"/>
              </a:spcBef>
            </a:pPr>
            <a:r>
              <a:rPr sz="1100">
                <a:solidFill>
                  <a:srgbClr val="06B6D4"/>
                </a:solidFill>
              </a:rPr>
              <a:t>→  </a:t>
            </a:r>
            <a:r>
              <a:rPr sz="1200">
                <a:solidFill>
                  <a:srgbClr val="94A3B8"/>
                </a:solidFill>
              </a:rPr>
              <a:t>Scale reality: 1,252 GPUs · 158 kW per rack · liquid cooling</a:t>
            </a:r>
          </a:p>
          <a:p>
            <a:pPr>
              <a:spcBef>
                <a:spcPts val="400"/>
              </a:spcBef>
            </a:pPr>
            <a:r>
              <a:rPr sz="1100">
                <a:solidFill>
                  <a:srgbClr val="06B6D4"/>
                </a:solidFill>
              </a:rPr>
              <a:t>→  </a:t>
            </a:r>
            <a:r>
              <a:rPr sz="1200">
                <a:solidFill>
                  <a:srgbClr val="94A3B8"/>
                </a:solidFill>
              </a:rPr>
              <a:t>AI is transforming from a software problem to an energy + infrastructure problem</a:t>
            </a:r>
          </a:p>
          <a:p>
            <a:pPr>
              <a:spcBef>
                <a:spcPts val="400"/>
              </a:spcBef>
            </a:pPr>
            <a:r>
              <a:rPr sz="1100">
                <a:solidFill>
                  <a:srgbClr val="06B6D4"/>
                </a:solidFill>
              </a:rPr>
              <a:t>→  </a:t>
            </a:r>
            <a:r>
              <a:rPr sz="1200">
                <a:solidFill>
                  <a:srgbClr val="94A3B8"/>
                </a:solidFill>
              </a:rPr>
              <a:t>Awareness of physical constraints is key to realistic AI planning</a:t>
            </a:r>
          </a:p>
          <a:p>
            <a:pPr>
              <a:spcBef>
                <a:spcPts val="400"/>
              </a:spcBef>
            </a:pPr>
            <a:r>
              <a:rPr sz="1100">
                <a:solidFill>
                  <a:srgbClr val="06B6D4"/>
                </a:solidFill>
              </a:rPr>
              <a:t>→  </a:t>
            </a:r>
            <a:r>
              <a:rPr sz="1200">
                <a:solidFill>
                  <a:srgbClr val="94A3B8"/>
                </a:solidFill>
              </a:rPr>
              <a:t>Not every company needs frontier-scale infra — right-size your compute</a:t>
            </a:r>
          </a:p>
        </p:txBody>
      </p:sp>
      <p:pic>
        <p:nvPicPr>
          <p:cNvPr id="7" name="Picture 6"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502920" y="502920"/>
            <a:ext cx="5943600" cy="256032"/>
          </a:xfrm>
          <a:prstGeom prst="rect">
            <a:avLst/>
          </a:prstGeom>
          <a:solidFill>
            <a:srgbClr val="021616"/>
          </a:solidFill>
          <a:ln w="762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2DD4BF"/>
                </a:solidFill>
              </a:rPr>
              <a:t>SIEMENS · AI &amp; ML STAGE (M1)</a:t>
            </a:r>
          </a:p>
        </p:txBody>
      </p:sp>
      <p:sp>
        <p:nvSpPr>
          <p:cNvPr id="3" name="TextBox 2"/>
          <p:cNvSpPr txBox="1"/>
          <p:nvPr/>
        </p:nvSpPr>
        <p:spPr>
          <a:xfrm>
            <a:off x="502920" y="841248"/>
            <a:ext cx="11185855" cy="841248"/>
          </a:xfrm>
          <a:prstGeom prst="rect">
            <a:avLst/>
          </a:prstGeom>
          <a:noFill/>
        </p:spPr>
        <p:txBody>
          <a:bodyPr wrap="square">
            <a:spAutoFit/>
          </a:bodyPr>
          <a:lstStyle/>
          <a:p>
            <a:pPr algn="l"/>
            <a:r>
              <a:rPr sz="2800" b="1" i="0">
                <a:solidFill>
                  <a:srgbClr val="F1F5F9"/>
                </a:solidFill>
              </a:rPr>
              <a:t>Industrial AI: Reshaping Industry End-to-End</a:t>
            </a:r>
          </a:p>
        </p:txBody>
      </p:sp>
      <p:sp>
        <p:nvSpPr>
          <p:cNvPr id="4" name="Rectangle 3"/>
          <p:cNvSpPr/>
          <p:nvPr/>
        </p:nvSpPr>
        <p:spPr>
          <a:xfrm>
            <a:off x="502920" y="1737360"/>
            <a:ext cx="3637178" cy="242316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828800"/>
            <a:ext cx="3436010" cy="292608"/>
          </a:xfrm>
          <a:prstGeom prst="rect">
            <a:avLst/>
          </a:prstGeom>
          <a:noFill/>
        </p:spPr>
        <p:txBody>
          <a:bodyPr wrap="square">
            <a:spAutoFit/>
          </a:bodyPr>
          <a:lstStyle/>
          <a:p>
            <a:pPr algn="l"/>
            <a:r>
              <a:rPr sz="1100" b="1" i="0">
                <a:solidFill>
                  <a:srgbClr val="F1F5F9"/>
                </a:solidFill>
              </a:rPr>
              <a:t>🏭  Full Industrial Value Chain</a:t>
            </a:r>
          </a:p>
        </p:txBody>
      </p:sp>
      <p:sp>
        <p:nvSpPr>
          <p:cNvPr id="6" name="TextBox 5"/>
          <p:cNvSpPr txBox="1"/>
          <p:nvPr/>
        </p:nvSpPr>
        <p:spPr>
          <a:xfrm>
            <a:off x="612648" y="2157984"/>
            <a:ext cx="3436010" cy="1892808"/>
          </a:xfrm>
          <a:prstGeom prst="rect">
            <a:avLst/>
          </a:prstGeom>
          <a:noFill/>
        </p:spPr>
        <p:txBody>
          <a:bodyPr wrap="square">
            <a:spAutoFit/>
          </a:bodyPr>
          <a:lstStyle/>
          <a:p>
            <a:pPr algn="l"/>
            <a:r>
              <a:rPr sz="1000" b="0" i="0">
                <a:solidFill>
                  <a:srgbClr val="94A3B8"/>
                </a:solidFill>
              </a:rPr>
              <a:t>AI transforms design, engineering, production, operations, energy and buildings — not just one layer</a:t>
            </a:r>
          </a:p>
        </p:txBody>
      </p:sp>
      <p:sp>
        <p:nvSpPr>
          <p:cNvPr id="7" name="Rectangle 6"/>
          <p:cNvSpPr/>
          <p:nvPr/>
        </p:nvSpPr>
        <p:spPr>
          <a:xfrm>
            <a:off x="4277258" y="1737360"/>
            <a:ext cx="3637178" cy="242316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6986" y="1828800"/>
            <a:ext cx="3436010" cy="292608"/>
          </a:xfrm>
          <a:prstGeom prst="rect">
            <a:avLst/>
          </a:prstGeom>
          <a:noFill/>
        </p:spPr>
        <p:txBody>
          <a:bodyPr wrap="square">
            <a:spAutoFit/>
          </a:bodyPr>
          <a:lstStyle/>
          <a:p>
            <a:pPr algn="l"/>
            <a:r>
              <a:rPr sz="1100" b="1" i="0">
                <a:solidFill>
                  <a:srgbClr val="F1F5F9"/>
                </a:solidFill>
              </a:rPr>
              <a:t>🎯  Business-Critical Value</a:t>
            </a:r>
          </a:p>
        </p:txBody>
      </p:sp>
      <p:sp>
        <p:nvSpPr>
          <p:cNvPr id="9" name="TextBox 8"/>
          <p:cNvSpPr txBox="1"/>
          <p:nvPr/>
        </p:nvSpPr>
        <p:spPr>
          <a:xfrm>
            <a:off x="4386986" y="2157984"/>
            <a:ext cx="3436010" cy="1892808"/>
          </a:xfrm>
          <a:prstGeom prst="rect">
            <a:avLst/>
          </a:prstGeom>
          <a:noFill/>
        </p:spPr>
        <p:txBody>
          <a:bodyPr wrap="square">
            <a:spAutoFit/>
          </a:bodyPr>
          <a:lstStyle/>
          <a:p>
            <a:pPr algn="l"/>
            <a:r>
              <a:rPr sz="1000" b="0" i="0">
                <a:solidFill>
                  <a:srgbClr val="94A3B8"/>
                </a:solidFill>
              </a:rPr>
              <a:t>More competitive, resilient and sustainable operations through AI — speed, flexibility, quality</a:t>
            </a:r>
          </a:p>
        </p:txBody>
      </p:sp>
      <p:sp>
        <p:nvSpPr>
          <p:cNvPr id="10" name="Rectangle 9"/>
          <p:cNvSpPr/>
          <p:nvPr/>
        </p:nvSpPr>
        <p:spPr>
          <a:xfrm>
            <a:off x="8051596" y="1737360"/>
            <a:ext cx="3637178" cy="242316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61324" y="1828800"/>
            <a:ext cx="3436010" cy="292608"/>
          </a:xfrm>
          <a:prstGeom prst="rect">
            <a:avLst/>
          </a:prstGeom>
          <a:noFill/>
        </p:spPr>
        <p:txBody>
          <a:bodyPr wrap="square">
            <a:spAutoFit/>
          </a:bodyPr>
          <a:lstStyle/>
          <a:p>
            <a:pPr algn="l"/>
            <a:r>
              <a:rPr sz="1100" b="1" i="0">
                <a:solidFill>
                  <a:srgbClr val="F1F5F9"/>
                </a:solidFill>
              </a:rPr>
              <a:t>⚙️  Smarter Adaptive Operations</a:t>
            </a:r>
          </a:p>
        </p:txBody>
      </p:sp>
      <p:sp>
        <p:nvSpPr>
          <p:cNvPr id="12" name="TextBox 11"/>
          <p:cNvSpPr txBox="1"/>
          <p:nvPr/>
        </p:nvSpPr>
        <p:spPr>
          <a:xfrm>
            <a:off x="8161324" y="2157984"/>
            <a:ext cx="3436010" cy="1892808"/>
          </a:xfrm>
          <a:prstGeom prst="rect">
            <a:avLst/>
          </a:prstGeom>
          <a:noFill/>
        </p:spPr>
        <p:txBody>
          <a:bodyPr wrap="square">
            <a:spAutoFit/>
          </a:bodyPr>
          <a:lstStyle/>
          <a:p>
            <a:pPr algn="l"/>
            <a:r>
              <a:rPr sz="1000" b="0" i="0">
                <a:solidFill>
                  <a:srgbClr val="94A3B8"/>
                </a:solidFill>
              </a:rPr>
              <a:t>Real-time decision-making · Faster problem-solving · Quality-driven factories</a:t>
            </a:r>
          </a:p>
        </p:txBody>
      </p:sp>
      <p:sp>
        <p:nvSpPr>
          <p:cNvPr id="13" name="Rectangle 12"/>
          <p:cNvSpPr/>
          <p:nvPr/>
        </p:nvSpPr>
        <p:spPr>
          <a:xfrm>
            <a:off x="502920" y="4297680"/>
            <a:ext cx="3637178" cy="242316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4389120"/>
            <a:ext cx="3436010" cy="292608"/>
          </a:xfrm>
          <a:prstGeom prst="rect">
            <a:avLst/>
          </a:prstGeom>
          <a:noFill/>
        </p:spPr>
        <p:txBody>
          <a:bodyPr wrap="square">
            <a:spAutoFit/>
          </a:bodyPr>
          <a:lstStyle/>
          <a:p>
            <a:pPr algn="l"/>
            <a:r>
              <a:rPr sz="1100" b="1" i="0">
                <a:solidFill>
                  <a:srgbClr val="F1F5F9"/>
                </a:solidFill>
              </a:rPr>
              <a:t>🔬  The Right Foundation</a:t>
            </a:r>
          </a:p>
        </p:txBody>
      </p:sp>
      <p:sp>
        <p:nvSpPr>
          <p:cNvPr id="15" name="TextBox 14"/>
          <p:cNvSpPr txBox="1"/>
          <p:nvPr/>
        </p:nvSpPr>
        <p:spPr>
          <a:xfrm>
            <a:off x="612648" y="4718304"/>
            <a:ext cx="3436010" cy="1892808"/>
          </a:xfrm>
          <a:prstGeom prst="rect">
            <a:avLst/>
          </a:prstGeom>
          <a:noFill/>
        </p:spPr>
        <p:txBody>
          <a:bodyPr wrap="square">
            <a:spAutoFit/>
          </a:bodyPr>
          <a:lstStyle/>
          <a:p>
            <a:pPr algn="l"/>
            <a:r>
              <a:rPr sz="1000" b="0" i="0">
                <a:solidFill>
                  <a:srgbClr val="94A3B8"/>
                </a:solidFill>
              </a:rPr>
              <a:t>Industrial data + domain expertise + AI capabilities + partner ecosystem = real-world impact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6122E"/>
          </a:solidFill>
          <a:ln w="762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93C5FD"/>
                </a:solidFill>
              </a:rPr>
              <a:t>META · DE &amp; DATAOPS STAGE (M2)</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Understanding Data at Scale</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The Manual Data Understanding Trap</a:t>
            </a:r>
          </a:p>
        </p:txBody>
      </p:sp>
      <p:sp>
        <p:nvSpPr>
          <p:cNvPr id="6" name="Rectangle 5"/>
          <p:cNvSpPr/>
          <p:nvPr/>
        </p:nvSpPr>
        <p:spPr>
          <a:xfrm>
            <a:off x="502920" y="2231136"/>
            <a:ext cx="1783080" cy="77724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231136"/>
            <a:ext cx="1783080" cy="457200"/>
          </a:xfrm>
          <a:prstGeom prst="rect">
            <a:avLst/>
          </a:prstGeom>
          <a:noFill/>
        </p:spPr>
        <p:txBody>
          <a:bodyPr wrap="square">
            <a:spAutoFit/>
          </a:bodyPr>
          <a:lstStyle/>
          <a:p>
            <a:pPr algn="ctr"/>
            <a:r>
              <a:rPr sz="2000" b="1" i="0">
                <a:solidFill>
                  <a:srgbClr val="6366F1"/>
                </a:solidFill>
              </a:rPr>
              <a:t>100s</a:t>
            </a:r>
          </a:p>
        </p:txBody>
      </p:sp>
      <p:sp>
        <p:nvSpPr>
          <p:cNvPr id="8" name="TextBox 7"/>
          <p:cNvSpPr txBox="1"/>
          <p:nvPr/>
        </p:nvSpPr>
        <p:spPr>
          <a:xfrm>
            <a:off x="502920" y="2688336"/>
            <a:ext cx="1783080" cy="292608"/>
          </a:xfrm>
          <a:prstGeom prst="rect">
            <a:avLst/>
          </a:prstGeom>
          <a:noFill/>
        </p:spPr>
        <p:txBody>
          <a:bodyPr wrap="square">
            <a:spAutoFit/>
          </a:bodyPr>
          <a:lstStyle/>
          <a:p>
            <a:pPr algn="ctr"/>
            <a:r>
              <a:rPr sz="800" b="0" i="0">
                <a:solidFill>
                  <a:srgbClr val="94A3B8"/>
                </a:solidFill>
              </a:rPr>
              <a:t>Distinct datastorage systems</a:t>
            </a:r>
          </a:p>
        </p:txBody>
      </p:sp>
      <p:sp>
        <p:nvSpPr>
          <p:cNvPr id="9" name="Rectangle 8"/>
          <p:cNvSpPr/>
          <p:nvPr/>
        </p:nvSpPr>
        <p:spPr>
          <a:xfrm>
            <a:off x="2377440" y="2231136"/>
            <a:ext cx="1783080" cy="77724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2231136"/>
            <a:ext cx="1783080" cy="457200"/>
          </a:xfrm>
          <a:prstGeom prst="rect">
            <a:avLst/>
          </a:prstGeom>
          <a:noFill/>
        </p:spPr>
        <p:txBody>
          <a:bodyPr wrap="square">
            <a:spAutoFit/>
          </a:bodyPr>
          <a:lstStyle/>
          <a:p>
            <a:pPr algn="ctr"/>
            <a:r>
              <a:rPr sz="2000" b="1" i="0">
                <a:solidFill>
                  <a:srgbClr val="6366F1"/>
                </a:solidFill>
              </a:rPr>
              <a:t>M+</a:t>
            </a:r>
          </a:p>
        </p:txBody>
      </p:sp>
      <p:sp>
        <p:nvSpPr>
          <p:cNvPr id="11" name="TextBox 10"/>
          <p:cNvSpPr txBox="1"/>
          <p:nvPr/>
        </p:nvSpPr>
        <p:spPr>
          <a:xfrm>
            <a:off x="2377440" y="2688336"/>
            <a:ext cx="1783080" cy="292608"/>
          </a:xfrm>
          <a:prstGeom prst="rect">
            <a:avLst/>
          </a:prstGeom>
          <a:noFill/>
        </p:spPr>
        <p:txBody>
          <a:bodyPr wrap="square">
            <a:spAutoFit/>
          </a:bodyPr>
          <a:lstStyle/>
          <a:p>
            <a:pPr algn="ctr"/>
            <a:r>
              <a:rPr sz="800" b="0" i="0">
                <a:solidFill>
                  <a:srgbClr val="94A3B8"/>
                </a:solidFill>
              </a:rPr>
              <a:t>Data assetsin scope</a:t>
            </a:r>
          </a:p>
        </p:txBody>
      </p:sp>
      <p:sp>
        <p:nvSpPr>
          <p:cNvPr id="12" name="Rectangle 11"/>
          <p:cNvSpPr/>
          <p:nvPr/>
        </p:nvSpPr>
        <p:spPr>
          <a:xfrm>
            <a:off x="4251960" y="2231136"/>
            <a:ext cx="1783080" cy="77724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2231136"/>
            <a:ext cx="1783080" cy="457200"/>
          </a:xfrm>
          <a:prstGeom prst="rect">
            <a:avLst/>
          </a:prstGeom>
          <a:noFill/>
        </p:spPr>
        <p:txBody>
          <a:bodyPr wrap="square">
            <a:spAutoFit/>
          </a:bodyPr>
          <a:lstStyle/>
          <a:p>
            <a:pPr algn="ctr"/>
            <a:r>
              <a:rPr sz="2000" b="1" i="0">
                <a:solidFill>
                  <a:srgbClr val="6366F1"/>
                </a:solidFill>
              </a:rPr>
              <a:t>B+</a:t>
            </a:r>
          </a:p>
        </p:txBody>
      </p:sp>
      <p:sp>
        <p:nvSpPr>
          <p:cNvPr id="14" name="TextBox 13"/>
          <p:cNvSpPr txBox="1"/>
          <p:nvPr/>
        </p:nvSpPr>
        <p:spPr>
          <a:xfrm>
            <a:off x="4251960" y="2688336"/>
            <a:ext cx="1783080" cy="292608"/>
          </a:xfrm>
          <a:prstGeom prst="rect">
            <a:avLst/>
          </a:prstGeom>
          <a:noFill/>
        </p:spPr>
        <p:txBody>
          <a:bodyPr wrap="square">
            <a:spAutoFit/>
          </a:bodyPr>
          <a:lstStyle/>
          <a:p>
            <a:pPr algn="ctr"/>
            <a:r>
              <a:rPr sz="800" b="0" i="0">
                <a:solidFill>
                  <a:srgbClr val="94A3B8"/>
                </a:solidFill>
              </a:rPr>
              <a:t>Columnsand fields</a:t>
            </a:r>
          </a:p>
        </p:txBody>
      </p:sp>
      <p:sp>
        <p:nvSpPr>
          <p:cNvPr id="15" name="TextBox 14"/>
          <p:cNvSpPr txBox="1"/>
          <p:nvPr/>
        </p:nvSpPr>
        <p:spPr>
          <a:xfrm>
            <a:off x="502920" y="3145536"/>
            <a:ext cx="5532120" cy="3575304"/>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No shared schema language across systems</a:t>
            </a:r>
          </a:p>
          <a:p>
            <a:pPr>
              <a:spcBef>
                <a:spcPts val="400"/>
              </a:spcBef>
            </a:pPr>
            <a:r>
              <a:rPr sz="1100">
                <a:solidFill>
                  <a:srgbClr val="06B6D4"/>
                </a:solidFill>
              </a:rPr>
              <a:t>→  </a:t>
            </a:r>
            <a:r>
              <a:rPr sz="1200">
                <a:solidFill>
                  <a:srgbClr val="94A3B8"/>
                </a:solidFill>
              </a:rPr>
              <a:t>Tickets don't scale. Manual understanding fails at this level.</a:t>
            </a:r>
          </a:p>
          <a:p>
            <a:pPr>
              <a:spcBef>
                <a:spcPts val="400"/>
              </a:spcBef>
            </a:pPr>
            <a:r>
              <a:rPr sz="1100">
                <a:solidFill>
                  <a:srgbClr val="06B6D4"/>
                </a:solidFill>
              </a:rPr>
              <a:t>→  </a:t>
            </a:r>
            <a:r>
              <a:rPr sz="1200">
                <a:solidFill>
                  <a:srgbClr val="94A3B8"/>
                </a:solidFill>
              </a:rPr>
              <a:t>Solution: Privacy Aware Infrastructure (PAI) — automated, continuous</a:t>
            </a:r>
          </a:p>
          <a:p>
            <a:pPr>
              <a:spcBef>
                <a:spcPts val="400"/>
              </a:spcBef>
            </a:pPr>
            <a:r>
              <a:rPr sz="1100">
                <a:solidFill>
                  <a:srgbClr val="06B6D4"/>
                </a:solidFill>
              </a:rPr>
              <a:t>→  </a:t>
            </a:r>
            <a:r>
              <a:rPr sz="1200">
                <a:solidFill>
                  <a:srgbClr val="94A3B8"/>
                </a:solidFill>
              </a:rPr>
              <a:t>Adopted a shift-left approach: privacy embedded early in dev lifecycle</a:t>
            </a:r>
          </a:p>
        </p:txBody>
      </p:sp>
      <p:pic>
        <p:nvPicPr>
          <p:cNvPr id="16" name="Picture 15"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6122E"/>
          </a:solidFill>
          <a:ln w="762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93C5FD"/>
                </a:solidFill>
              </a:rPr>
              <a:t>META · THE MENTAL MODEL</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Semantic CI/CD Pipeline</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Treat data understanding as an automated, idempotent pipeline</a:t>
            </a:r>
          </a:p>
        </p:txBody>
      </p:sp>
      <p:sp>
        <p:nvSpPr>
          <p:cNvPr id="6" name="Rectangle 5"/>
          <p:cNvSpPr/>
          <p:nvPr/>
        </p:nvSpPr>
        <p:spPr>
          <a:xfrm>
            <a:off x="502920" y="2231136"/>
            <a:ext cx="1143000" cy="713232"/>
          </a:xfrm>
          <a:prstGeom prst="rect">
            <a:avLst/>
          </a:prstGeom>
          <a:solidFill>
            <a:srgbClr val="111827"/>
          </a:solidFill>
          <a:ln w="6350">
            <a:solidFill>
              <a:srgbClr val="3A3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231136"/>
            <a:ext cx="1143000" cy="201168"/>
          </a:xfrm>
          <a:prstGeom prst="rect">
            <a:avLst/>
          </a:prstGeom>
          <a:noFill/>
        </p:spPr>
        <p:txBody>
          <a:bodyPr wrap="square">
            <a:spAutoFit/>
          </a:bodyPr>
          <a:lstStyle/>
          <a:p>
            <a:pPr algn="ctr"/>
            <a:r>
              <a:rPr sz="700" b="0" i="0">
                <a:solidFill>
                  <a:srgbClr val="6366F1"/>
                </a:solidFill>
              </a:rPr>
              <a:t>Step 1</a:t>
            </a:r>
          </a:p>
        </p:txBody>
      </p:sp>
      <p:sp>
        <p:nvSpPr>
          <p:cNvPr id="8" name="TextBox 7"/>
          <p:cNvSpPr txBox="1"/>
          <p:nvPr/>
        </p:nvSpPr>
        <p:spPr>
          <a:xfrm>
            <a:off x="502920" y="2432304"/>
            <a:ext cx="1143000" cy="292608"/>
          </a:xfrm>
          <a:prstGeom prst="rect">
            <a:avLst/>
          </a:prstGeom>
          <a:noFill/>
        </p:spPr>
        <p:txBody>
          <a:bodyPr wrap="square">
            <a:spAutoFit/>
          </a:bodyPr>
          <a:lstStyle/>
          <a:p>
            <a:pPr algn="ctr"/>
            <a:r>
              <a:rPr sz="900" b="1" i="0">
                <a:solidFill>
                  <a:srgbClr val="F1F5F9"/>
                </a:solidFill>
              </a:rPr>
              <a:t>Enumerate</a:t>
            </a:r>
          </a:p>
        </p:txBody>
      </p:sp>
      <p:sp>
        <p:nvSpPr>
          <p:cNvPr id="9" name="TextBox 8"/>
          <p:cNvSpPr txBox="1"/>
          <p:nvPr/>
        </p:nvSpPr>
        <p:spPr>
          <a:xfrm>
            <a:off x="502920" y="2724912"/>
            <a:ext cx="1143000" cy="201168"/>
          </a:xfrm>
          <a:prstGeom prst="rect">
            <a:avLst/>
          </a:prstGeom>
          <a:noFill/>
        </p:spPr>
        <p:txBody>
          <a:bodyPr wrap="square">
            <a:spAutoFit/>
          </a:bodyPr>
          <a:lstStyle/>
          <a:p>
            <a:pPr algn="ctr"/>
            <a:r>
              <a:rPr sz="700" b="0" i="0">
                <a:solidFill>
                  <a:srgbClr val="94A3B8"/>
                </a:solidFill>
              </a:rPr>
              <a:t>Discover all assets &amp; schemas</a:t>
            </a:r>
          </a:p>
        </p:txBody>
      </p:sp>
      <p:sp>
        <p:nvSpPr>
          <p:cNvPr id="10" name="TextBox 9"/>
          <p:cNvSpPr txBox="1"/>
          <p:nvPr/>
        </p:nvSpPr>
        <p:spPr>
          <a:xfrm>
            <a:off x="1664208" y="2450592"/>
            <a:ext cx="256032" cy="256032"/>
          </a:xfrm>
          <a:prstGeom prst="rect">
            <a:avLst/>
          </a:prstGeom>
          <a:noFill/>
        </p:spPr>
        <p:txBody>
          <a:bodyPr wrap="square">
            <a:spAutoFit/>
          </a:bodyPr>
          <a:lstStyle/>
          <a:p>
            <a:pPr algn="ctr"/>
            <a:r>
              <a:rPr sz="1300" b="0" i="0">
                <a:solidFill>
                  <a:srgbClr val="06B6D4"/>
                </a:solidFill>
              </a:rPr>
              <a:t>→</a:t>
            </a:r>
          </a:p>
        </p:txBody>
      </p:sp>
      <p:sp>
        <p:nvSpPr>
          <p:cNvPr id="11" name="Rectangle 10"/>
          <p:cNvSpPr/>
          <p:nvPr/>
        </p:nvSpPr>
        <p:spPr>
          <a:xfrm>
            <a:off x="1938528" y="2231136"/>
            <a:ext cx="1143000" cy="713232"/>
          </a:xfrm>
          <a:prstGeom prst="rect">
            <a:avLst/>
          </a:prstGeom>
          <a:solidFill>
            <a:srgbClr val="111827"/>
          </a:solidFill>
          <a:ln w="6350">
            <a:solidFill>
              <a:srgbClr val="3A3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38528" y="2231136"/>
            <a:ext cx="1143000" cy="201168"/>
          </a:xfrm>
          <a:prstGeom prst="rect">
            <a:avLst/>
          </a:prstGeom>
          <a:noFill/>
        </p:spPr>
        <p:txBody>
          <a:bodyPr wrap="square">
            <a:spAutoFit/>
          </a:bodyPr>
          <a:lstStyle/>
          <a:p>
            <a:pPr algn="ctr"/>
            <a:r>
              <a:rPr sz="700" b="0" i="0">
                <a:solidFill>
                  <a:srgbClr val="6366F1"/>
                </a:solidFill>
              </a:rPr>
              <a:t>Step 2</a:t>
            </a:r>
          </a:p>
        </p:txBody>
      </p:sp>
      <p:sp>
        <p:nvSpPr>
          <p:cNvPr id="13" name="TextBox 12"/>
          <p:cNvSpPr txBox="1"/>
          <p:nvPr/>
        </p:nvSpPr>
        <p:spPr>
          <a:xfrm>
            <a:off x="1938528" y="2432304"/>
            <a:ext cx="1143000" cy="292608"/>
          </a:xfrm>
          <a:prstGeom prst="rect">
            <a:avLst/>
          </a:prstGeom>
          <a:noFill/>
        </p:spPr>
        <p:txBody>
          <a:bodyPr wrap="square">
            <a:spAutoFit/>
          </a:bodyPr>
          <a:lstStyle/>
          <a:p>
            <a:pPr algn="ctr"/>
            <a:r>
              <a:rPr sz="900" b="1" i="0">
                <a:solidFill>
                  <a:srgbClr val="F1F5F9"/>
                </a:solidFill>
              </a:rPr>
              <a:t>Schematize</a:t>
            </a:r>
          </a:p>
        </p:txBody>
      </p:sp>
      <p:sp>
        <p:nvSpPr>
          <p:cNvPr id="14" name="TextBox 13"/>
          <p:cNvSpPr txBox="1"/>
          <p:nvPr/>
        </p:nvSpPr>
        <p:spPr>
          <a:xfrm>
            <a:off x="1938528" y="2724912"/>
            <a:ext cx="1143000" cy="201168"/>
          </a:xfrm>
          <a:prstGeom prst="rect">
            <a:avLst/>
          </a:prstGeom>
          <a:noFill/>
        </p:spPr>
        <p:txBody>
          <a:bodyPr wrap="square">
            <a:spAutoFit/>
          </a:bodyPr>
          <a:lstStyle/>
          <a:p>
            <a:pPr algn="ctr"/>
            <a:r>
              <a:rPr sz="700" b="0" i="0">
                <a:solidFill>
                  <a:srgbClr val="94A3B8"/>
                </a:solidFill>
              </a:rPr>
              <a:t>One canonical dataSchema</a:t>
            </a:r>
          </a:p>
        </p:txBody>
      </p:sp>
      <p:sp>
        <p:nvSpPr>
          <p:cNvPr id="15" name="TextBox 14"/>
          <p:cNvSpPr txBox="1"/>
          <p:nvPr/>
        </p:nvSpPr>
        <p:spPr>
          <a:xfrm>
            <a:off x="3099816" y="2450592"/>
            <a:ext cx="256032" cy="256032"/>
          </a:xfrm>
          <a:prstGeom prst="rect">
            <a:avLst/>
          </a:prstGeom>
          <a:noFill/>
        </p:spPr>
        <p:txBody>
          <a:bodyPr wrap="square">
            <a:spAutoFit/>
          </a:bodyPr>
          <a:lstStyle/>
          <a:p>
            <a:pPr algn="ctr"/>
            <a:r>
              <a:rPr sz="1300" b="0" i="0">
                <a:solidFill>
                  <a:srgbClr val="06B6D4"/>
                </a:solidFill>
              </a:rPr>
              <a:t>→</a:t>
            </a:r>
          </a:p>
        </p:txBody>
      </p:sp>
      <p:sp>
        <p:nvSpPr>
          <p:cNvPr id="16" name="Rectangle 15"/>
          <p:cNvSpPr/>
          <p:nvPr/>
        </p:nvSpPr>
        <p:spPr>
          <a:xfrm>
            <a:off x="3374136" y="2231136"/>
            <a:ext cx="1143000" cy="713232"/>
          </a:xfrm>
          <a:prstGeom prst="rect">
            <a:avLst/>
          </a:prstGeom>
          <a:solidFill>
            <a:srgbClr val="111827"/>
          </a:solidFill>
          <a:ln w="6350">
            <a:solidFill>
              <a:srgbClr val="3A3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74136" y="2231136"/>
            <a:ext cx="1143000" cy="201168"/>
          </a:xfrm>
          <a:prstGeom prst="rect">
            <a:avLst/>
          </a:prstGeom>
          <a:noFill/>
        </p:spPr>
        <p:txBody>
          <a:bodyPr wrap="square">
            <a:spAutoFit/>
          </a:bodyPr>
          <a:lstStyle/>
          <a:p>
            <a:pPr algn="ctr"/>
            <a:r>
              <a:rPr sz="700" b="0" i="0">
                <a:solidFill>
                  <a:srgbClr val="6366F1"/>
                </a:solidFill>
              </a:rPr>
              <a:t>Step 3</a:t>
            </a:r>
          </a:p>
        </p:txBody>
      </p:sp>
      <p:sp>
        <p:nvSpPr>
          <p:cNvPr id="18" name="TextBox 17"/>
          <p:cNvSpPr txBox="1"/>
          <p:nvPr/>
        </p:nvSpPr>
        <p:spPr>
          <a:xfrm>
            <a:off x="3374136" y="2432304"/>
            <a:ext cx="1143000" cy="292608"/>
          </a:xfrm>
          <a:prstGeom prst="rect">
            <a:avLst/>
          </a:prstGeom>
          <a:noFill/>
        </p:spPr>
        <p:txBody>
          <a:bodyPr wrap="square">
            <a:spAutoFit/>
          </a:bodyPr>
          <a:lstStyle/>
          <a:p>
            <a:pPr algn="ctr"/>
            <a:r>
              <a:rPr sz="900" b="1" i="0">
                <a:solidFill>
                  <a:srgbClr val="F1F5F9"/>
                </a:solidFill>
              </a:rPr>
              <a:t>Classify</a:t>
            </a:r>
          </a:p>
        </p:txBody>
      </p:sp>
      <p:sp>
        <p:nvSpPr>
          <p:cNvPr id="19" name="TextBox 18"/>
          <p:cNvSpPr txBox="1"/>
          <p:nvPr/>
        </p:nvSpPr>
        <p:spPr>
          <a:xfrm>
            <a:off x="3374136" y="2724912"/>
            <a:ext cx="1143000" cy="201168"/>
          </a:xfrm>
          <a:prstGeom prst="rect">
            <a:avLst/>
          </a:prstGeom>
          <a:noFill/>
        </p:spPr>
        <p:txBody>
          <a:bodyPr wrap="square">
            <a:spAutoFit/>
          </a:bodyPr>
          <a:lstStyle/>
          <a:p>
            <a:pPr algn="ctr"/>
            <a:r>
              <a:rPr sz="700" b="0" i="0">
                <a:solidFill>
                  <a:srgbClr val="94A3B8"/>
                </a:solidFill>
              </a:rPr>
              <a:t>Regex + ML classifiers</a:t>
            </a:r>
          </a:p>
        </p:txBody>
      </p:sp>
      <p:sp>
        <p:nvSpPr>
          <p:cNvPr id="20" name="TextBox 19"/>
          <p:cNvSpPr txBox="1"/>
          <p:nvPr/>
        </p:nvSpPr>
        <p:spPr>
          <a:xfrm>
            <a:off x="4535424" y="2450592"/>
            <a:ext cx="256032" cy="256032"/>
          </a:xfrm>
          <a:prstGeom prst="rect">
            <a:avLst/>
          </a:prstGeom>
          <a:noFill/>
        </p:spPr>
        <p:txBody>
          <a:bodyPr wrap="square">
            <a:spAutoFit/>
          </a:bodyPr>
          <a:lstStyle/>
          <a:p>
            <a:pPr algn="ctr"/>
            <a:r>
              <a:rPr sz="1300" b="0" i="0">
                <a:solidFill>
                  <a:srgbClr val="06B6D4"/>
                </a:solidFill>
              </a:rPr>
              <a:t>→</a:t>
            </a:r>
          </a:p>
        </p:txBody>
      </p:sp>
      <p:sp>
        <p:nvSpPr>
          <p:cNvPr id="21" name="Rectangle 20"/>
          <p:cNvSpPr/>
          <p:nvPr/>
        </p:nvSpPr>
        <p:spPr>
          <a:xfrm>
            <a:off x="4809744" y="2231136"/>
            <a:ext cx="1143000" cy="713232"/>
          </a:xfrm>
          <a:prstGeom prst="rect">
            <a:avLst/>
          </a:prstGeom>
          <a:solidFill>
            <a:srgbClr val="111827"/>
          </a:solidFill>
          <a:ln w="6350">
            <a:solidFill>
              <a:srgbClr val="3A3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9744" y="2231136"/>
            <a:ext cx="1143000" cy="201168"/>
          </a:xfrm>
          <a:prstGeom prst="rect">
            <a:avLst/>
          </a:prstGeom>
          <a:noFill/>
        </p:spPr>
        <p:txBody>
          <a:bodyPr wrap="square">
            <a:spAutoFit/>
          </a:bodyPr>
          <a:lstStyle/>
          <a:p>
            <a:pPr algn="ctr"/>
            <a:r>
              <a:rPr sz="700" b="0" i="0">
                <a:solidFill>
                  <a:srgbClr val="6366F1"/>
                </a:solidFill>
              </a:rPr>
              <a:t>Step 4</a:t>
            </a:r>
          </a:p>
        </p:txBody>
      </p:sp>
      <p:sp>
        <p:nvSpPr>
          <p:cNvPr id="23" name="TextBox 22"/>
          <p:cNvSpPr txBox="1"/>
          <p:nvPr/>
        </p:nvSpPr>
        <p:spPr>
          <a:xfrm>
            <a:off x="4809744" y="2432304"/>
            <a:ext cx="1143000" cy="292608"/>
          </a:xfrm>
          <a:prstGeom prst="rect">
            <a:avLst/>
          </a:prstGeom>
          <a:noFill/>
        </p:spPr>
        <p:txBody>
          <a:bodyPr wrap="square">
            <a:spAutoFit/>
          </a:bodyPr>
          <a:lstStyle/>
          <a:p>
            <a:pPr algn="ctr"/>
            <a:r>
              <a:rPr sz="900" b="1" i="0">
                <a:solidFill>
                  <a:srgbClr val="F1F5F9"/>
                </a:solidFill>
              </a:rPr>
              <a:t>Use</a:t>
            </a:r>
          </a:p>
        </p:txBody>
      </p:sp>
      <p:sp>
        <p:nvSpPr>
          <p:cNvPr id="24" name="TextBox 23"/>
          <p:cNvSpPr txBox="1"/>
          <p:nvPr/>
        </p:nvSpPr>
        <p:spPr>
          <a:xfrm>
            <a:off x="4809744" y="2724912"/>
            <a:ext cx="1143000" cy="201168"/>
          </a:xfrm>
          <a:prstGeom prst="rect">
            <a:avLst/>
          </a:prstGeom>
          <a:noFill/>
        </p:spPr>
        <p:txBody>
          <a:bodyPr wrap="square">
            <a:spAutoFit/>
          </a:bodyPr>
          <a:lstStyle/>
          <a:p>
            <a:pPr algn="ctr"/>
            <a:r>
              <a:rPr sz="700" b="0" i="0">
                <a:solidFill>
                  <a:srgbClr val="94A3B8"/>
                </a:solidFill>
              </a:rPr>
              <a:t>Privacy &amp; access actions</a:t>
            </a:r>
          </a:p>
        </p:txBody>
      </p:sp>
      <p:sp>
        <p:nvSpPr>
          <p:cNvPr id="25" name="TextBox 24"/>
          <p:cNvSpPr txBox="1"/>
          <p:nvPr/>
        </p:nvSpPr>
        <p:spPr>
          <a:xfrm>
            <a:off x="502920" y="3072384"/>
            <a:ext cx="5532120" cy="3648456"/>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Each stage is automated and monitored</a:t>
            </a:r>
          </a:p>
          <a:p>
            <a:pPr>
              <a:spcBef>
                <a:spcPts val="400"/>
              </a:spcBef>
            </a:pPr>
            <a:r>
              <a:rPr sz="1100">
                <a:solidFill>
                  <a:srgbClr val="06B6D4"/>
                </a:solidFill>
              </a:rPr>
              <a:t>→  </a:t>
            </a:r>
            <a:r>
              <a:rPr sz="1200">
                <a:solidFill>
                  <a:srgbClr val="94A3B8"/>
                </a:solidFill>
              </a:rPr>
              <a:t>Classification: heuristics (regex for emails, etc.) + ML classifiers</a:t>
            </a:r>
          </a:p>
          <a:p>
            <a:pPr>
              <a:spcBef>
                <a:spcPts val="400"/>
              </a:spcBef>
            </a:pPr>
            <a:r>
              <a:rPr sz="1100">
                <a:solidFill>
                  <a:srgbClr val="06B6D4"/>
                </a:solidFill>
              </a:rPr>
              <a:t>→  </a:t>
            </a:r>
            <a:r>
              <a:rPr sz="1200">
                <a:solidFill>
                  <a:srgbClr val="94A3B8"/>
                </a:solidFill>
              </a:rPr>
              <a:t>A decade of investment — millions of assets catalogued daily</a:t>
            </a:r>
          </a:p>
        </p:txBody>
      </p:sp>
      <p:pic>
        <p:nvPicPr>
          <p:cNvPr id="26" name="Picture 25"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6122E"/>
          </a:solidFill>
          <a:ln w="762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93C5FD"/>
                </a:solidFill>
              </a:rPr>
              <a:t>META · KEY INNOVATION</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From Nightly Batch to Real-Time</a:t>
            </a:r>
          </a:p>
        </p:txBody>
      </p:sp>
      <p:sp>
        <p:nvSpPr>
          <p:cNvPr id="5" name="TextBox 4"/>
          <p:cNvSpPr txBox="1"/>
          <p:nvPr/>
        </p:nvSpPr>
        <p:spPr>
          <a:xfrm>
            <a:off x="502920" y="1847088"/>
            <a:ext cx="5532120" cy="4873752"/>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Powered by Change Data Capture (CDC)</a:t>
            </a:r>
          </a:p>
          <a:p>
            <a:pPr>
              <a:spcBef>
                <a:spcPts val="400"/>
              </a:spcBef>
            </a:pPr>
            <a:r>
              <a:rPr sz="1100">
                <a:solidFill>
                  <a:srgbClr val="06B6D4"/>
                </a:solidFill>
              </a:rPr>
              <a:t>→  </a:t>
            </a:r>
            <a:r>
              <a:rPr sz="1200">
                <a:solidFill>
                  <a:srgbClr val="94A3B8"/>
                </a:solidFill>
              </a:rPr>
              <a:t>Before: days of delay between table creation and classification</a:t>
            </a:r>
          </a:p>
          <a:p>
            <a:pPr>
              <a:spcBef>
                <a:spcPts val="400"/>
              </a:spcBef>
            </a:pPr>
            <a:r>
              <a:rPr sz="1100">
                <a:solidFill>
                  <a:srgbClr val="06B6D4"/>
                </a:solidFill>
              </a:rPr>
              <a:t>→  </a:t>
            </a:r>
            <a:r>
              <a:rPr sz="1200">
                <a:solidFill>
                  <a:srgbClr val="94A3B8"/>
                </a:solidFill>
              </a:rPr>
              <a:t>After: classification in minutes</a:t>
            </a:r>
          </a:p>
          <a:p>
            <a:pPr>
              <a:spcBef>
                <a:spcPts val="400"/>
              </a:spcBef>
            </a:pPr>
            <a:r>
              <a:rPr sz="1100">
                <a:solidFill>
                  <a:srgbClr val="06B6D4"/>
                </a:solidFill>
              </a:rPr>
              <a:t>→  </a:t>
            </a:r>
            <a:r>
              <a:rPr sz="1200">
                <a:solidFill>
                  <a:srgbClr val="94A3B8"/>
                </a:solidFill>
              </a:rPr>
              <a:t>Privacy becomes a pipeline property, not a post-hoc check</a:t>
            </a:r>
          </a:p>
          <a:p>
            <a:pPr>
              <a:spcBef>
                <a:spcPts val="400"/>
              </a:spcBef>
            </a:pPr>
            <a:r>
              <a:rPr sz="1100">
                <a:solidFill>
                  <a:srgbClr val="06B6D4"/>
                </a:solidFill>
              </a:rPr>
              <a:t>→  </a:t>
            </a:r>
            <a:r>
              <a:rPr sz="1200">
                <a:solidFill>
                  <a:srgbClr val="94A3B8"/>
                </a:solidFill>
              </a:rPr>
              <a:t>Prevents downstream pipeline poisoning before it starts</a:t>
            </a:r>
          </a:p>
          <a:p>
            <a:pPr>
              <a:spcBef>
                <a:spcPts val="400"/>
              </a:spcBef>
            </a:pPr>
            <a:r>
              <a:rPr sz="1100">
                <a:solidFill>
                  <a:srgbClr val="06B6D4"/>
                </a:solidFill>
              </a:rPr>
              <a:t>→  </a:t>
            </a:r>
            <a:r>
              <a:rPr sz="1200">
                <a:solidFill>
                  <a:srgbClr val="94A3B8"/>
                </a:solidFill>
              </a:rPr>
              <a:t>ML access control applied automatically at classification</a:t>
            </a:r>
          </a:p>
        </p:txBody>
      </p:sp>
      <p:pic>
        <p:nvPicPr>
          <p:cNvPr id="6" name="Picture 5"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41408"/>
          </a:solidFill>
          <a:ln w="762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4ADE80"/>
                </a:solidFill>
              </a:rPr>
              <a:t>SPOTIFY · AI &amp; ML STAGE (M1)</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Personalization at 100M+ Users</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The evolution of AI-powered recommendations</a:t>
            </a:r>
          </a:p>
        </p:txBody>
      </p:sp>
      <p:sp>
        <p:nvSpPr>
          <p:cNvPr id="6" name="Rectangle 5"/>
          <p:cNvSpPr/>
          <p:nvPr/>
        </p:nvSpPr>
        <p:spPr>
          <a:xfrm>
            <a:off x="502920" y="2231136"/>
            <a:ext cx="1143000" cy="713232"/>
          </a:xfrm>
          <a:prstGeom prst="rect">
            <a:avLst/>
          </a:prstGeom>
          <a:solidFill>
            <a:srgbClr val="111827"/>
          </a:solidFill>
          <a:ln w="6350">
            <a:solidFill>
              <a:srgbClr val="3A3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231136"/>
            <a:ext cx="1143000" cy="201168"/>
          </a:xfrm>
          <a:prstGeom prst="rect">
            <a:avLst/>
          </a:prstGeom>
          <a:noFill/>
        </p:spPr>
        <p:txBody>
          <a:bodyPr wrap="square">
            <a:spAutoFit/>
          </a:bodyPr>
          <a:lstStyle/>
          <a:p>
            <a:pPr algn="ctr"/>
            <a:r>
              <a:rPr sz="700" b="0" i="0">
                <a:solidFill>
                  <a:srgbClr val="6366F1"/>
                </a:solidFill>
              </a:rPr>
              <a:t>Era 1</a:t>
            </a:r>
          </a:p>
        </p:txBody>
      </p:sp>
      <p:sp>
        <p:nvSpPr>
          <p:cNvPr id="8" name="TextBox 7"/>
          <p:cNvSpPr txBox="1"/>
          <p:nvPr/>
        </p:nvSpPr>
        <p:spPr>
          <a:xfrm>
            <a:off x="502920" y="2432304"/>
            <a:ext cx="1143000" cy="292608"/>
          </a:xfrm>
          <a:prstGeom prst="rect">
            <a:avLst/>
          </a:prstGeom>
          <a:noFill/>
        </p:spPr>
        <p:txBody>
          <a:bodyPr wrap="square">
            <a:spAutoFit/>
          </a:bodyPr>
          <a:lstStyle/>
          <a:p>
            <a:pPr algn="ctr"/>
            <a:r>
              <a:rPr sz="900" b="1" i="0">
                <a:solidFill>
                  <a:srgbClr val="F1F5F9"/>
                </a:solidFill>
              </a:rPr>
              <a:t>Human Curated → Editorial playlists</a:t>
            </a:r>
          </a:p>
        </p:txBody>
      </p:sp>
      <p:sp>
        <p:nvSpPr>
          <p:cNvPr id="9" name="TextBox 8"/>
          <p:cNvSpPr txBox="1"/>
          <p:nvPr/>
        </p:nvSpPr>
        <p:spPr>
          <a:xfrm>
            <a:off x="1664208" y="2450592"/>
            <a:ext cx="256032" cy="256032"/>
          </a:xfrm>
          <a:prstGeom prst="rect">
            <a:avLst/>
          </a:prstGeom>
          <a:noFill/>
        </p:spPr>
        <p:txBody>
          <a:bodyPr wrap="square">
            <a:spAutoFit/>
          </a:bodyPr>
          <a:lstStyle/>
          <a:p>
            <a:pPr algn="ctr"/>
            <a:r>
              <a:rPr sz="1300" b="0" i="0">
                <a:solidFill>
                  <a:srgbClr val="06B6D4"/>
                </a:solidFill>
              </a:rPr>
              <a:t>→</a:t>
            </a:r>
          </a:p>
        </p:txBody>
      </p:sp>
      <p:sp>
        <p:nvSpPr>
          <p:cNvPr id="10" name="Rectangle 9"/>
          <p:cNvSpPr/>
          <p:nvPr/>
        </p:nvSpPr>
        <p:spPr>
          <a:xfrm>
            <a:off x="1938528" y="2231136"/>
            <a:ext cx="1143000" cy="713232"/>
          </a:xfrm>
          <a:prstGeom prst="rect">
            <a:avLst/>
          </a:prstGeom>
          <a:solidFill>
            <a:srgbClr val="111827"/>
          </a:solidFill>
          <a:ln w="6350">
            <a:solidFill>
              <a:srgbClr val="3A3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38528" y="2231136"/>
            <a:ext cx="1143000" cy="201168"/>
          </a:xfrm>
          <a:prstGeom prst="rect">
            <a:avLst/>
          </a:prstGeom>
          <a:noFill/>
        </p:spPr>
        <p:txBody>
          <a:bodyPr wrap="square">
            <a:spAutoFit/>
          </a:bodyPr>
          <a:lstStyle/>
          <a:p>
            <a:pPr algn="ctr"/>
            <a:r>
              <a:rPr sz="700" b="0" i="0">
                <a:solidFill>
                  <a:srgbClr val="6366F1"/>
                </a:solidFill>
              </a:rPr>
              <a:t>Era 2</a:t>
            </a:r>
          </a:p>
        </p:txBody>
      </p:sp>
      <p:sp>
        <p:nvSpPr>
          <p:cNvPr id="12" name="TextBox 11"/>
          <p:cNvSpPr txBox="1"/>
          <p:nvPr/>
        </p:nvSpPr>
        <p:spPr>
          <a:xfrm>
            <a:off x="1938528" y="2432304"/>
            <a:ext cx="1143000" cy="292608"/>
          </a:xfrm>
          <a:prstGeom prst="rect">
            <a:avLst/>
          </a:prstGeom>
          <a:noFill/>
        </p:spPr>
        <p:txBody>
          <a:bodyPr wrap="square">
            <a:spAutoFit/>
          </a:bodyPr>
          <a:lstStyle/>
          <a:p>
            <a:pPr algn="ctr"/>
            <a:r>
              <a:rPr sz="900" b="1" i="0">
                <a:solidFill>
                  <a:srgbClr val="F1F5F9"/>
                </a:solidFill>
              </a:rPr>
              <a:t>Prediction Models → Discover Weekly</a:t>
            </a:r>
          </a:p>
        </p:txBody>
      </p:sp>
      <p:sp>
        <p:nvSpPr>
          <p:cNvPr id="13" name="TextBox 12"/>
          <p:cNvSpPr txBox="1"/>
          <p:nvPr/>
        </p:nvSpPr>
        <p:spPr>
          <a:xfrm>
            <a:off x="3099816" y="2450592"/>
            <a:ext cx="256032" cy="256032"/>
          </a:xfrm>
          <a:prstGeom prst="rect">
            <a:avLst/>
          </a:prstGeom>
          <a:noFill/>
        </p:spPr>
        <p:txBody>
          <a:bodyPr wrap="square">
            <a:spAutoFit/>
          </a:bodyPr>
          <a:lstStyle/>
          <a:p>
            <a:pPr algn="ctr"/>
            <a:r>
              <a:rPr sz="1300" b="0" i="0">
                <a:solidFill>
                  <a:srgbClr val="06B6D4"/>
                </a:solidFill>
              </a:rPr>
              <a:t>→</a:t>
            </a:r>
          </a:p>
        </p:txBody>
      </p:sp>
      <p:sp>
        <p:nvSpPr>
          <p:cNvPr id="14" name="Rectangle 13"/>
          <p:cNvSpPr/>
          <p:nvPr/>
        </p:nvSpPr>
        <p:spPr>
          <a:xfrm>
            <a:off x="3374136" y="2231136"/>
            <a:ext cx="1143000" cy="713232"/>
          </a:xfrm>
          <a:prstGeom prst="rect">
            <a:avLst/>
          </a:prstGeom>
          <a:solidFill>
            <a:srgbClr val="111827"/>
          </a:solidFill>
          <a:ln w="6350">
            <a:solidFill>
              <a:srgbClr val="3A3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74136" y="2231136"/>
            <a:ext cx="1143000" cy="201168"/>
          </a:xfrm>
          <a:prstGeom prst="rect">
            <a:avLst/>
          </a:prstGeom>
          <a:noFill/>
        </p:spPr>
        <p:txBody>
          <a:bodyPr wrap="square">
            <a:spAutoFit/>
          </a:bodyPr>
          <a:lstStyle/>
          <a:p>
            <a:pPr algn="ctr"/>
            <a:r>
              <a:rPr sz="700" b="0" i="0">
                <a:solidFill>
                  <a:srgbClr val="6366F1"/>
                </a:solidFill>
              </a:rPr>
              <a:t>Era 3 (Now)</a:t>
            </a:r>
          </a:p>
        </p:txBody>
      </p:sp>
      <p:sp>
        <p:nvSpPr>
          <p:cNvPr id="16" name="TextBox 15"/>
          <p:cNvSpPr txBox="1"/>
          <p:nvPr/>
        </p:nvSpPr>
        <p:spPr>
          <a:xfrm>
            <a:off x="3374136" y="2432304"/>
            <a:ext cx="1143000" cy="292608"/>
          </a:xfrm>
          <a:prstGeom prst="rect">
            <a:avLst/>
          </a:prstGeom>
          <a:noFill/>
        </p:spPr>
        <p:txBody>
          <a:bodyPr wrap="square">
            <a:spAutoFit/>
          </a:bodyPr>
          <a:lstStyle/>
          <a:p>
            <a:pPr algn="ctr"/>
            <a:r>
              <a:rPr sz="900" b="1" i="0">
                <a:solidFill>
                  <a:srgbClr val="F1F5F9"/>
                </a:solidFill>
              </a:rPr>
              <a:t>Generative AI</a:t>
            </a:r>
          </a:p>
        </p:txBody>
      </p:sp>
      <p:sp>
        <p:nvSpPr>
          <p:cNvPr id="17" name="TextBox 16"/>
          <p:cNvSpPr txBox="1"/>
          <p:nvPr/>
        </p:nvSpPr>
        <p:spPr>
          <a:xfrm>
            <a:off x="3374136" y="2724912"/>
            <a:ext cx="1143000" cy="201168"/>
          </a:xfrm>
          <a:prstGeom prst="rect">
            <a:avLst/>
          </a:prstGeom>
          <a:noFill/>
        </p:spPr>
        <p:txBody>
          <a:bodyPr wrap="square">
            <a:spAutoFit/>
          </a:bodyPr>
          <a:lstStyle/>
          <a:p>
            <a:pPr algn="ctr"/>
            <a:r>
              <a:rPr sz="700" b="0" i="0">
                <a:solidFill>
                  <a:srgbClr val="94A3B8"/>
                </a:solidFill>
              </a:rPr>
              <a:t>Spotify DJ · Prompt to Playlist · Taste Profile</a:t>
            </a:r>
          </a:p>
        </p:txBody>
      </p:sp>
      <p:sp>
        <p:nvSpPr>
          <p:cNvPr id="18" name="TextBox 17"/>
          <p:cNvSpPr txBox="1"/>
          <p:nvPr/>
        </p:nvSpPr>
        <p:spPr>
          <a:xfrm>
            <a:off x="502920" y="3072384"/>
            <a:ext cx="5532120" cy="3648456"/>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Challenge: pre-trained LLMs don't speak "Spotify"</a:t>
            </a:r>
          </a:p>
          <a:p>
            <a:pPr>
              <a:spcBef>
                <a:spcPts val="400"/>
              </a:spcBef>
            </a:pPr>
            <a:r>
              <a:rPr sz="1100">
                <a:solidFill>
                  <a:srgbClr val="06B6D4"/>
                </a:solidFill>
              </a:rPr>
              <a:t>→  </a:t>
            </a:r>
            <a:r>
              <a:rPr sz="1200">
                <a:solidFill>
                  <a:srgbClr val="94A3B8"/>
                </a:solidFill>
              </a:rPr>
              <a:t>Fix: ground in catalog, align with behavior, optimize for goals</a:t>
            </a:r>
          </a:p>
        </p:txBody>
      </p:sp>
      <p:pic>
        <p:nvPicPr>
          <p:cNvPr id="19" name="Picture 18"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71028"/>
          </a:solidFill>
          <a:ln w="762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60A5FA"/>
                </a:solidFill>
              </a:rPr>
              <a:t>GOOGLE CLOUD · DAY 2 KEYNOTE</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The Agentic Data Cloud</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From systems of intelligence → systems of action</a:t>
            </a:r>
          </a:p>
        </p:txBody>
      </p:sp>
      <p:sp>
        <p:nvSpPr>
          <p:cNvPr id="6" name="TextBox 5"/>
          <p:cNvSpPr txBox="1"/>
          <p:nvPr/>
        </p:nvSpPr>
        <p:spPr>
          <a:xfrm>
            <a:off x="502920" y="2231136"/>
            <a:ext cx="5532120" cy="4489704"/>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Data Agents empower every role in the data org</a:t>
            </a:r>
          </a:p>
          <a:p>
            <a:pPr>
              <a:spcBef>
                <a:spcPts val="400"/>
              </a:spcBef>
            </a:pPr>
            <a:r>
              <a:rPr sz="1100">
                <a:solidFill>
                  <a:srgbClr val="06B6D4"/>
                </a:solidFill>
              </a:rPr>
              <a:t>→  </a:t>
            </a:r>
            <a:r>
              <a:rPr sz="1200">
                <a:solidFill>
                  <a:srgbClr val="94A3B8"/>
                </a:solidFill>
              </a:rPr>
              <a:t>Moving from reactive dashboards to proactive action</a:t>
            </a:r>
          </a:p>
          <a:p>
            <a:pPr>
              <a:spcBef>
                <a:spcPts val="400"/>
              </a:spcBef>
            </a:pPr>
            <a:r>
              <a:rPr sz="1100">
                <a:solidFill>
                  <a:srgbClr val="06B6D4"/>
                </a:solidFill>
              </a:rPr>
              <a:t>→  </a:t>
            </a:r>
            <a:r>
              <a:rPr sz="1200">
                <a:solidFill>
                  <a:srgbClr val="94A3B8"/>
                </a:solidFill>
              </a:rPr>
              <a:t>Grounding agents in enterprise semantic knowledge, not raw data</a:t>
            </a:r>
          </a:p>
          <a:p>
            <a:pPr>
              <a:spcBef>
                <a:spcPts val="400"/>
              </a:spcBef>
            </a:pPr>
            <a:r>
              <a:rPr sz="1100">
                <a:solidFill>
                  <a:srgbClr val="06B6D4"/>
                </a:solidFill>
              </a:rPr>
              <a:t>→  </a:t>
            </a:r>
            <a:r>
              <a:rPr sz="1200">
                <a:solidFill>
                  <a:srgbClr val="94A3B8"/>
                </a:solidFill>
              </a:rPr>
              <a:t>Team transformation: from solo performer → orchestrator</a:t>
            </a:r>
          </a:p>
          <a:p>
            <a:pPr>
              <a:spcBef>
                <a:spcPts val="400"/>
              </a:spcBef>
            </a:pPr>
            <a:r>
              <a:rPr sz="1100">
                <a:solidFill>
                  <a:srgbClr val="06B6D4"/>
                </a:solidFill>
              </a:rPr>
              <a:t>→  </a:t>
            </a:r>
            <a:r>
              <a:rPr sz="1200">
                <a:solidFill>
                  <a:srgbClr val="94A3B8"/>
                </a:solidFill>
              </a:rPr>
              <a:t>Demo shown: Agent Catalog in Google Cloud Console</a:t>
            </a:r>
          </a:p>
          <a:p>
            <a:pPr>
              <a:spcBef>
                <a:spcPts val="400"/>
              </a:spcBef>
            </a:pPr>
            <a:r>
              <a:rPr sz="1100">
                <a:solidFill>
                  <a:srgbClr val="06B6D4"/>
                </a:solidFill>
              </a:rPr>
              <a:t>→  </a:t>
            </a:r>
            <a:r>
              <a:rPr sz="1200">
                <a:solidFill>
                  <a:srgbClr val="94A3B8"/>
                </a:solidFill>
              </a:rPr>
              <a:t>Moving from human scale to agent scale across clouds</a:t>
            </a:r>
          </a:p>
        </p:txBody>
      </p:sp>
      <p:pic>
        <p:nvPicPr>
          <p:cNvPr id="7" name="Picture 6"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71028"/>
          </a:solidFill>
          <a:ln w="762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60A5FA"/>
                </a:solidFill>
              </a:rPr>
              <a:t>GOOGLE CLOUD · CONVERSATIONAL AGENTS</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Natural Language Across the Data Stack</a:t>
            </a:r>
          </a:p>
        </p:txBody>
      </p:sp>
      <p:sp>
        <p:nvSpPr>
          <p:cNvPr id="5" name="TextBox 4"/>
          <p:cNvSpPr txBox="1"/>
          <p:nvPr/>
        </p:nvSpPr>
        <p:spPr>
          <a:xfrm>
            <a:off x="502920" y="1847088"/>
            <a:ext cx="5532120" cy="4873752"/>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Gemini Enterprise integrated across Google's data tooling</a:t>
            </a:r>
          </a:p>
          <a:p>
            <a:pPr>
              <a:spcBef>
                <a:spcPts val="400"/>
              </a:spcBef>
            </a:pPr>
            <a:r>
              <a:rPr sz="1100">
                <a:solidFill>
                  <a:srgbClr val="06B6D4"/>
                </a:solidFill>
              </a:rPr>
              <a:t>→  </a:t>
            </a:r>
            <a:r>
              <a:rPr sz="1200">
                <a:solidFill>
                  <a:srgbClr val="94A3B8"/>
                </a:solidFill>
              </a:rPr>
              <a:t>Looker: natural language for BI and dashboards</a:t>
            </a:r>
          </a:p>
          <a:p>
            <a:pPr>
              <a:spcBef>
                <a:spcPts val="400"/>
              </a:spcBef>
            </a:pPr>
            <a:r>
              <a:rPr sz="1100">
                <a:solidFill>
                  <a:srgbClr val="06B6D4"/>
                </a:solidFill>
              </a:rPr>
              <a:t>→  </a:t>
            </a:r>
            <a:r>
              <a:rPr sz="1200">
                <a:solidFill>
                  <a:srgbClr val="94A3B8"/>
                </a:solidFill>
              </a:rPr>
              <a:t>BigQuery: AI-powered analytics for data practitioners</a:t>
            </a:r>
          </a:p>
          <a:p>
            <a:pPr>
              <a:spcBef>
                <a:spcPts val="400"/>
              </a:spcBef>
            </a:pPr>
            <a:r>
              <a:rPr sz="1100">
                <a:solidFill>
                  <a:srgbClr val="06B6D4"/>
                </a:solidFill>
              </a:rPr>
              <a:t>→  </a:t>
            </a:r>
            <a:r>
              <a:rPr sz="1200">
                <a:solidFill>
                  <a:srgbClr val="94A3B8"/>
                </a:solidFill>
              </a:rPr>
              <a:t>Lakehouse: NL queries against Delta, Delta, Hive data</a:t>
            </a:r>
          </a:p>
          <a:p>
            <a:pPr>
              <a:spcBef>
                <a:spcPts val="400"/>
              </a:spcBef>
            </a:pPr>
            <a:r>
              <a:rPr sz="1100">
                <a:solidFill>
                  <a:srgbClr val="06B6D4"/>
                </a:solidFill>
              </a:rPr>
              <a:t>→  </a:t>
            </a:r>
            <a:r>
              <a:rPr sz="1200">
                <a:solidFill>
                  <a:srgbClr val="94A3B8"/>
                </a:solidFill>
              </a:rPr>
              <a:t>Full code transparency in conversational DB insights</a:t>
            </a:r>
          </a:p>
          <a:p>
            <a:pPr>
              <a:spcBef>
                <a:spcPts val="400"/>
              </a:spcBef>
            </a:pPr>
            <a:r>
              <a:rPr sz="1100">
                <a:solidFill>
                  <a:srgbClr val="06B6D4"/>
                </a:solidFill>
              </a:rPr>
              <a:t>→  </a:t>
            </a:r>
            <a:r>
              <a:rPr sz="1200">
                <a:solidFill>
                  <a:srgbClr val="94A3B8"/>
                </a:solidFill>
              </a:rPr>
              <a:t>Goal: any employee gets answers instantly — no query skills needed</a:t>
            </a:r>
          </a:p>
        </p:txBody>
      </p:sp>
      <p:pic>
        <p:nvPicPr>
          <p:cNvPr id="6" name="Picture 5"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071028"/>
          </a:solidFill>
          <a:ln w="762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60A5FA"/>
                </a:solidFill>
              </a:rPr>
              <a:t>GOOGLE CLOUD · DEVELOPER TOOLS</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Google Cloud Data Agent Kit</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Meeting developers where they live — every IDE, every terminal</a:t>
            </a:r>
          </a:p>
        </p:txBody>
      </p:sp>
      <p:sp>
        <p:nvSpPr>
          <p:cNvPr id="6" name="Rectangle 5"/>
          <p:cNvSpPr/>
          <p:nvPr/>
        </p:nvSpPr>
        <p:spPr>
          <a:xfrm>
            <a:off x="502920" y="2231136"/>
            <a:ext cx="2711196" cy="2203704"/>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295144"/>
            <a:ext cx="2546604" cy="256032"/>
          </a:xfrm>
          <a:prstGeom prst="rect">
            <a:avLst/>
          </a:prstGeom>
          <a:noFill/>
        </p:spPr>
        <p:txBody>
          <a:bodyPr wrap="square">
            <a:spAutoFit/>
          </a:bodyPr>
          <a:lstStyle/>
          <a:p>
            <a:pPr algn="l"/>
            <a:r>
              <a:rPr sz="1000" b="1" i="0">
                <a:solidFill>
                  <a:srgbClr val="F1F5F9"/>
                </a:solidFill>
              </a:rPr>
              <a:t>🔧  MCP Tools</a:t>
            </a:r>
          </a:p>
        </p:txBody>
      </p:sp>
      <p:sp>
        <p:nvSpPr>
          <p:cNvPr id="8" name="TextBox 7"/>
          <p:cNvSpPr txBox="1"/>
          <p:nvPr/>
        </p:nvSpPr>
        <p:spPr>
          <a:xfrm>
            <a:off x="594360" y="2578608"/>
            <a:ext cx="2546604" cy="1746504"/>
          </a:xfrm>
          <a:prstGeom prst="rect">
            <a:avLst/>
          </a:prstGeom>
          <a:noFill/>
        </p:spPr>
        <p:txBody>
          <a:bodyPr wrap="square">
            <a:spAutoFit/>
          </a:bodyPr>
          <a:lstStyle/>
          <a:p>
            <a:pPr algn="l"/>
            <a:r>
              <a:rPr sz="900" b="0" i="0">
                <a:solidFill>
                  <a:srgbClr val="94A3B8"/>
                </a:solidFill>
              </a:rPr>
              <a:t>Model Context Protocol integration with Data Cloud</a:t>
            </a:r>
          </a:p>
        </p:txBody>
      </p:sp>
      <p:sp>
        <p:nvSpPr>
          <p:cNvPr id="9" name="Rectangle 8"/>
          <p:cNvSpPr/>
          <p:nvPr/>
        </p:nvSpPr>
        <p:spPr>
          <a:xfrm>
            <a:off x="3323844" y="2231136"/>
            <a:ext cx="2711196" cy="2203704"/>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5284" y="2295144"/>
            <a:ext cx="2546604" cy="256032"/>
          </a:xfrm>
          <a:prstGeom prst="rect">
            <a:avLst/>
          </a:prstGeom>
          <a:noFill/>
        </p:spPr>
        <p:txBody>
          <a:bodyPr wrap="square">
            <a:spAutoFit/>
          </a:bodyPr>
          <a:lstStyle/>
          <a:p>
            <a:pPr algn="l"/>
            <a:r>
              <a:rPr sz="1000" b="1" i="0">
                <a:solidFill>
                  <a:srgbClr val="F1F5F9"/>
                </a:solidFill>
              </a:rPr>
              <a:t>⚡  Skills</a:t>
            </a:r>
          </a:p>
        </p:txBody>
      </p:sp>
      <p:sp>
        <p:nvSpPr>
          <p:cNvPr id="11" name="TextBox 10"/>
          <p:cNvSpPr txBox="1"/>
          <p:nvPr/>
        </p:nvSpPr>
        <p:spPr>
          <a:xfrm>
            <a:off x="3415284" y="2578608"/>
            <a:ext cx="2546604" cy="1746504"/>
          </a:xfrm>
          <a:prstGeom prst="rect">
            <a:avLst/>
          </a:prstGeom>
          <a:noFill/>
        </p:spPr>
        <p:txBody>
          <a:bodyPr wrap="square">
            <a:spAutoFit/>
          </a:bodyPr>
          <a:lstStyle/>
          <a:p>
            <a:pPr algn="l"/>
            <a:r>
              <a:rPr sz="900" b="0" i="0">
                <a:solidFill>
                  <a:srgbClr val="94A3B8"/>
                </a:solidFill>
              </a:rPr>
              <a:t>Portable agentic capabilities, any window</a:t>
            </a:r>
          </a:p>
        </p:txBody>
      </p:sp>
      <p:sp>
        <p:nvSpPr>
          <p:cNvPr id="12" name="Rectangle 11"/>
          <p:cNvSpPr/>
          <p:nvPr/>
        </p:nvSpPr>
        <p:spPr>
          <a:xfrm>
            <a:off x="502920" y="4544568"/>
            <a:ext cx="2711196" cy="2203704"/>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608576"/>
            <a:ext cx="2546604" cy="256032"/>
          </a:xfrm>
          <a:prstGeom prst="rect">
            <a:avLst/>
          </a:prstGeom>
          <a:noFill/>
        </p:spPr>
        <p:txBody>
          <a:bodyPr wrap="square">
            <a:spAutoFit/>
          </a:bodyPr>
          <a:lstStyle/>
          <a:p>
            <a:pPr algn="l"/>
            <a:r>
              <a:rPr sz="1000" b="1" i="0">
                <a:solidFill>
                  <a:srgbClr val="F1F5F9"/>
                </a:solidFill>
              </a:rPr>
              <a:t>🔌  Plugins</a:t>
            </a:r>
          </a:p>
        </p:txBody>
      </p:sp>
      <p:sp>
        <p:nvSpPr>
          <p:cNvPr id="14" name="TextBox 13"/>
          <p:cNvSpPr txBox="1"/>
          <p:nvPr/>
        </p:nvSpPr>
        <p:spPr>
          <a:xfrm>
            <a:off x="594360" y="4892040"/>
            <a:ext cx="2546604" cy="1746504"/>
          </a:xfrm>
          <a:prstGeom prst="rect">
            <a:avLst/>
          </a:prstGeom>
          <a:noFill/>
        </p:spPr>
        <p:txBody>
          <a:bodyPr wrap="square">
            <a:spAutoFit/>
          </a:bodyPr>
          <a:lstStyle/>
          <a:p>
            <a:pPr algn="l"/>
            <a:r>
              <a:rPr sz="900" b="0" i="0">
                <a:solidFill>
                  <a:srgbClr val="94A3B8"/>
                </a:solidFill>
              </a:rPr>
              <a:t>Ecosystem extensions for productivity</a:t>
            </a:r>
          </a:p>
        </p:txBody>
      </p:sp>
      <p:sp>
        <p:nvSpPr>
          <p:cNvPr id="15" name="Rectangle 14"/>
          <p:cNvSpPr/>
          <p:nvPr/>
        </p:nvSpPr>
        <p:spPr>
          <a:xfrm>
            <a:off x="3323844" y="4544568"/>
            <a:ext cx="2711196" cy="2203704"/>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15284" y="4608576"/>
            <a:ext cx="2546604" cy="256032"/>
          </a:xfrm>
          <a:prstGeom prst="rect">
            <a:avLst/>
          </a:prstGeom>
          <a:noFill/>
        </p:spPr>
        <p:txBody>
          <a:bodyPr wrap="square">
            <a:spAutoFit/>
          </a:bodyPr>
          <a:lstStyle/>
          <a:p>
            <a:pPr algn="l"/>
            <a:r>
              <a:rPr sz="1000" b="1" i="0">
                <a:solidFill>
                  <a:srgbClr val="F1F5F9"/>
                </a:solidFill>
              </a:rPr>
              <a:t>💻  IDE Extensions</a:t>
            </a:r>
          </a:p>
        </p:txBody>
      </p:sp>
      <p:sp>
        <p:nvSpPr>
          <p:cNvPr id="17" name="TextBox 16"/>
          <p:cNvSpPr txBox="1"/>
          <p:nvPr/>
        </p:nvSpPr>
        <p:spPr>
          <a:xfrm>
            <a:off x="3415284" y="4892040"/>
            <a:ext cx="2546604" cy="1746504"/>
          </a:xfrm>
          <a:prstGeom prst="rect">
            <a:avLst/>
          </a:prstGeom>
          <a:noFill/>
        </p:spPr>
        <p:txBody>
          <a:bodyPr wrap="square">
            <a:spAutoFit/>
          </a:bodyPr>
          <a:lstStyle/>
          <a:p>
            <a:pPr algn="l"/>
            <a:r>
              <a:rPr sz="900" b="0" i="0">
                <a:solidFill>
                  <a:srgbClr val="94A3B8"/>
                </a:solidFill>
              </a:rPr>
              <a:t>VS Code, JetBrains, any IDE</a:t>
            </a:r>
          </a:p>
        </p:txBody>
      </p:sp>
      <p:pic>
        <p:nvPicPr>
          <p:cNvPr id="18" name="Picture 17"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1E0838"/>
          </a:solidFill>
          <a:ln w="762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C084FC"/>
                </a:solidFill>
              </a:rPr>
              <a:t>AB INITIO · DAY 2 — AGENTIC READINESS</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The Four Fabrics Framework</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Is your enterprise ready for an agentic future?</a:t>
            </a:r>
          </a:p>
        </p:txBody>
      </p:sp>
      <p:sp>
        <p:nvSpPr>
          <p:cNvPr id="6" name="Rectangle 5"/>
          <p:cNvSpPr/>
          <p:nvPr/>
        </p:nvSpPr>
        <p:spPr>
          <a:xfrm>
            <a:off x="502920" y="2231136"/>
            <a:ext cx="2711196" cy="2203704"/>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295144"/>
            <a:ext cx="2546604" cy="256032"/>
          </a:xfrm>
          <a:prstGeom prst="rect">
            <a:avLst/>
          </a:prstGeom>
          <a:noFill/>
        </p:spPr>
        <p:txBody>
          <a:bodyPr wrap="square">
            <a:spAutoFit/>
          </a:bodyPr>
          <a:lstStyle/>
          <a:p>
            <a:pPr algn="l"/>
            <a:r>
              <a:rPr sz="1000" b="1" i="0">
                <a:solidFill>
                  <a:srgbClr val="F1F5F9"/>
                </a:solidFill>
              </a:rPr>
              <a:t>  Knowledge Fabric</a:t>
            </a:r>
          </a:p>
        </p:txBody>
      </p:sp>
      <p:sp>
        <p:nvSpPr>
          <p:cNvPr id="8" name="TextBox 7"/>
          <p:cNvSpPr txBox="1"/>
          <p:nvPr/>
        </p:nvSpPr>
        <p:spPr>
          <a:xfrm>
            <a:off x="594360" y="2578608"/>
            <a:ext cx="2546604" cy="1746504"/>
          </a:xfrm>
          <a:prstGeom prst="rect">
            <a:avLst/>
          </a:prstGeom>
          <a:noFill/>
        </p:spPr>
        <p:txBody>
          <a:bodyPr wrap="square">
            <a:spAutoFit/>
          </a:bodyPr>
          <a:lstStyle/>
          <a:p>
            <a:pPr algn="l"/>
            <a:r>
              <a:rPr sz="900" b="0" i="0">
                <a:solidFill>
                  <a:srgbClr val="94A3B8"/>
                </a:solidFill>
              </a:rPr>
              <a:t>= Metadata fabric. Enterprise semantic layer. The foundation everything runs on.</a:t>
            </a:r>
          </a:p>
        </p:txBody>
      </p:sp>
      <p:sp>
        <p:nvSpPr>
          <p:cNvPr id="9" name="Rectangle 8"/>
          <p:cNvSpPr/>
          <p:nvPr/>
        </p:nvSpPr>
        <p:spPr>
          <a:xfrm>
            <a:off x="3323844" y="2231136"/>
            <a:ext cx="2711196" cy="2203704"/>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5284" y="2295144"/>
            <a:ext cx="2546604" cy="256032"/>
          </a:xfrm>
          <a:prstGeom prst="rect">
            <a:avLst/>
          </a:prstGeom>
          <a:noFill/>
        </p:spPr>
        <p:txBody>
          <a:bodyPr wrap="square">
            <a:spAutoFit/>
          </a:bodyPr>
          <a:lstStyle/>
          <a:p>
            <a:pPr algn="l"/>
            <a:r>
              <a:rPr sz="1000" b="1" i="0">
                <a:solidFill>
                  <a:srgbClr val="F1F5F9"/>
                </a:solidFill>
              </a:rPr>
              <a:t>  Governance Fabric</a:t>
            </a:r>
          </a:p>
        </p:txBody>
      </p:sp>
      <p:sp>
        <p:nvSpPr>
          <p:cNvPr id="11" name="TextBox 10"/>
          <p:cNvSpPr txBox="1"/>
          <p:nvPr/>
        </p:nvSpPr>
        <p:spPr>
          <a:xfrm>
            <a:off x="3415284" y="2578608"/>
            <a:ext cx="2546604" cy="1746504"/>
          </a:xfrm>
          <a:prstGeom prst="rect">
            <a:avLst/>
          </a:prstGeom>
          <a:noFill/>
        </p:spPr>
        <p:txBody>
          <a:bodyPr wrap="square">
            <a:spAutoFit/>
          </a:bodyPr>
          <a:lstStyle/>
          <a:p>
            <a:pPr algn="l"/>
            <a:r>
              <a:rPr sz="900" b="0" i="0">
                <a:solidFill>
                  <a:srgbClr val="94A3B8"/>
                </a:solidFill>
              </a:rPr>
              <a:t>Rules, policies, lineage, compliance controls across systems.</a:t>
            </a:r>
          </a:p>
        </p:txBody>
      </p:sp>
      <p:sp>
        <p:nvSpPr>
          <p:cNvPr id="12" name="Rectangle 11"/>
          <p:cNvSpPr/>
          <p:nvPr/>
        </p:nvSpPr>
        <p:spPr>
          <a:xfrm>
            <a:off x="502920" y="4544568"/>
            <a:ext cx="2711196" cy="2203704"/>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608576"/>
            <a:ext cx="2546604" cy="256032"/>
          </a:xfrm>
          <a:prstGeom prst="rect">
            <a:avLst/>
          </a:prstGeom>
          <a:noFill/>
        </p:spPr>
        <p:txBody>
          <a:bodyPr wrap="square">
            <a:spAutoFit/>
          </a:bodyPr>
          <a:lstStyle/>
          <a:p>
            <a:pPr algn="l"/>
            <a:r>
              <a:rPr sz="1000" b="1" i="0">
                <a:solidFill>
                  <a:srgbClr val="F1F5F9"/>
                </a:solidFill>
              </a:rPr>
              <a:t>  Compute Fabric</a:t>
            </a:r>
          </a:p>
        </p:txBody>
      </p:sp>
      <p:sp>
        <p:nvSpPr>
          <p:cNvPr id="14" name="TextBox 13"/>
          <p:cNvSpPr txBox="1"/>
          <p:nvPr/>
        </p:nvSpPr>
        <p:spPr>
          <a:xfrm>
            <a:off x="594360" y="4892040"/>
            <a:ext cx="2546604" cy="1746504"/>
          </a:xfrm>
          <a:prstGeom prst="rect">
            <a:avLst/>
          </a:prstGeom>
          <a:noFill/>
        </p:spPr>
        <p:txBody>
          <a:bodyPr wrap="square">
            <a:spAutoFit/>
          </a:bodyPr>
          <a:lstStyle/>
          <a:p>
            <a:pPr algn="l"/>
            <a:r>
              <a:rPr sz="900" b="0" i="0">
                <a:solidFill>
                  <a:srgbClr val="94A3B8"/>
                </a:solidFill>
              </a:rPr>
              <a:t>The execution engine. Distributed high-performance processing.</a:t>
            </a:r>
          </a:p>
        </p:txBody>
      </p:sp>
      <p:sp>
        <p:nvSpPr>
          <p:cNvPr id="15" name="Rectangle 14"/>
          <p:cNvSpPr/>
          <p:nvPr/>
        </p:nvSpPr>
        <p:spPr>
          <a:xfrm>
            <a:off x="3323844" y="4544568"/>
            <a:ext cx="2711196" cy="2203704"/>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15284" y="4608576"/>
            <a:ext cx="2546604" cy="256032"/>
          </a:xfrm>
          <a:prstGeom prst="rect">
            <a:avLst/>
          </a:prstGeom>
          <a:noFill/>
        </p:spPr>
        <p:txBody>
          <a:bodyPr wrap="square">
            <a:spAutoFit/>
          </a:bodyPr>
          <a:lstStyle/>
          <a:p>
            <a:pPr algn="l"/>
            <a:r>
              <a:rPr sz="1000" b="1" i="0">
                <a:solidFill>
                  <a:srgbClr val="F1F5F9"/>
                </a:solidFill>
              </a:rPr>
              <a:t>  AI Fabric</a:t>
            </a:r>
          </a:p>
        </p:txBody>
      </p:sp>
      <p:sp>
        <p:nvSpPr>
          <p:cNvPr id="17" name="TextBox 16"/>
          <p:cNvSpPr txBox="1"/>
          <p:nvPr/>
        </p:nvSpPr>
        <p:spPr>
          <a:xfrm>
            <a:off x="3415284" y="4892040"/>
            <a:ext cx="2546604" cy="1746504"/>
          </a:xfrm>
          <a:prstGeom prst="rect">
            <a:avLst/>
          </a:prstGeom>
          <a:noFill/>
        </p:spPr>
        <p:txBody>
          <a:bodyPr wrap="square">
            <a:spAutoFit/>
          </a:bodyPr>
          <a:lstStyle/>
          <a:p>
            <a:pPr algn="l"/>
            <a:r>
              <a:rPr sz="900" b="0" i="0">
                <a:solidFill>
                  <a:srgbClr val="94A3B8"/>
                </a:solidFill>
              </a:rPr>
              <a:t>GenAI-powered data management. MCP is critical here.</a:t>
            </a:r>
          </a:p>
        </p:txBody>
      </p:sp>
      <p:pic>
        <p:nvPicPr>
          <p:cNvPr id="18" name="Picture 17"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1E0838"/>
          </a:solidFill>
          <a:ln w="762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C084FC"/>
                </a:solidFill>
              </a:rPr>
              <a:t>MARIA WISS · DAY 1 KEYNOTE</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How AI-Ready Is Your Data?</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3 prerequisites before jumping into AI:</a:t>
            </a:r>
          </a:p>
        </p:txBody>
      </p:sp>
      <p:sp>
        <p:nvSpPr>
          <p:cNvPr id="6" name="Rectangle 5"/>
          <p:cNvSpPr/>
          <p:nvPr/>
        </p:nvSpPr>
        <p:spPr>
          <a:xfrm>
            <a:off x="502920" y="2231136"/>
            <a:ext cx="2720340" cy="77724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231136"/>
            <a:ext cx="2720340" cy="457200"/>
          </a:xfrm>
          <a:prstGeom prst="rect">
            <a:avLst/>
          </a:prstGeom>
          <a:noFill/>
        </p:spPr>
        <p:txBody>
          <a:bodyPr wrap="square">
            <a:spAutoFit/>
          </a:bodyPr>
          <a:lstStyle/>
          <a:p>
            <a:pPr algn="ctr"/>
            <a:r>
              <a:rPr sz="2000" b="1" i="0">
                <a:solidFill>
                  <a:srgbClr val="6366F1"/>
                </a:solidFill>
              </a:rPr>
              <a:t>32%</a:t>
            </a:r>
          </a:p>
        </p:txBody>
      </p:sp>
      <p:sp>
        <p:nvSpPr>
          <p:cNvPr id="8" name="TextBox 7"/>
          <p:cNvSpPr txBox="1"/>
          <p:nvPr/>
        </p:nvSpPr>
        <p:spPr>
          <a:xfrm>
            <a:off x="502920" y="2688336"/>
            <a:ext cx="2720340" cy="292608"/>
          </a:xfrm>
          <a:prstGeom prst="rect">
            <a:avLst/>
          </a:prstGeom>
          <a:noFill/>
        </p:spPr>
        <p:txBody>
          <a:bodyPr wrap="square">
            <a:spAutoFit/>
          </a:bodyPr>
          <a:lstStyle/>
          <a:p>
            <a:pPr algn="ctr"/>
            <a:r>
              <a:rPr sz="800" b="0" i="0">
                <a:solidFill>
                  <a:srgbClr val="94A3B8"/>
                </a:solidFill>
              </a:rPr>
              <a:t>Structured datathat is AI-ready</a:t>
            </a:r>
          </a:p>
        </p:txBody>
      </p:sp>
      <p:sp>
        <p:nvSpPr>
          <p:cNvPr id="9" name="Rectangle 8"/>
          <p:cNvSpPr/>
          <p:nvPr/>
        </p:nvSpPr>
        <p:spPr>
          <a:xfrm>
            <a:off x="3314700" y="2231136"/>
            <a:ext cx="2720340" cy="77724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4700" y="2231136"/>
            <a:ext cx="2720340" cy="457200"/>
          </a:xfrm>
          <a:prstGeom prst="rect">
            <a:avLst/>
          </a:prstGeom>
          <a:noFill/>
        </p:spPr>
        <p:txBody>
          <a:bodyPr wrap="square">
            <a:spAutoFit/>
          </a:bodyPr>
          <a:lstStyle/>
          <a:p>
            <a:pPr algn="ctr"/>
            <a:r>
              <a:rPr sz="2000" b="1" i="0">
                <a:solidFill>
                  <a:srgbClr val="6366F1"/>
                </a:solidFill>
              </a:rPr>
              <a:t>25%</a:t>
            </a:r>
          </a:p>
        </p:txBody>
      </p:sp>
      <p:sp>
        <p:nvSpPr>
          <p:cNvPr id="11" name="TextBox 10"/>
          <p:cNvSpPr txBox="1"/>
          <p:nvPr/>
        </p:nvSpPr>
        <p:spPr>
          <a:xfrm>
            <a:off x="3314700" y="2688336"/>
            <a:ext cx="2720340" cy="292608"/>
          </a:xfrm>
          <a:prstGeom prst="rect">
            <a:avLst/>
          </a:prstGeom>
          <a:noFill/>
        </p:spPr>
        <p:txBody>
          <a:bodyPr wrap="square">
            <a:spAutoFit/>
          </a:bodyPr>
          <a:lstStyle/>
          <a:p>
            <a:pPr algn="ctr"/>
            <a:r>
              <a:rPr sz="800" b="0" i="0">
                <a:solidFill>
                  <a:srgbClr val="94A3B8"/>
                </a:solidFill>
              </a:rPr>
              <a:t>Unstructured datathat is AI-ready</a:t>
            </a:r>
          </a:p>
        </p:txBody>
      </p:sp>
      <p:sp>
        <p:nvSpPr>
          <p:cNvPr id="12" name="TextBox 11"/>
          <p:cNvSpPr txBox="1"/>
          <p:nvPr/>
        </p:nvSpPr>
        <p:spPr>
          <a:xfrm>
            <a:off x="502920" y="3145536"/>
            <a:ext cx="5532120" cy="3575304"/>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Business alignment first — be specific about what an agent will do</a:t>
            </a:r>
          </a:p>
          <a:p>
            <a:pPr>
              <a:spcBef>
                <a:spcPts val="400"/>
              </a:spcBef>
            </a:pPr>
            <a:r>
              <a:rPr sz="1100">
                <a:solidFill>
                  <a:srgbClr val="06B6D4"/>
                </a:solidFill>
              </a:rPr>
              <a:t>→  </a:t>
            </a:r>
            <a:r>
              <a:rPr sz="1200">
                <a:solidFill>
                  <a:srgbClr val="94A3B8"/>
                </a:solidFill>
              </a:rPr>
              <a:t>Solid data foundation — multicloud, open APIs, governance in place</a:t>
            </a:r>
          </a:p>
          <a:p>
            <a:pPr>
              <a:spcBef>
                <a:spcPts val="400"/>
              </a:spcBef>
            </a:pPr>
            <a:r>
              <a:rPr sz="1100">
                <a:solidFill>
                  <a:srgbClr val="06B6D4"/>
                </a:solidFill>
              </a:rPr>
              <a:t>→  </a:t>
            </a:r>
            <a:r>
              <a:rPr sz="1200">
                <a:solidFill>
                  <a:srgbClr val="94A3B8"/>
                </a:solidFill>
              </a:rPr>
              <a:t>Agentic enterprise components — orchestration, monitoring, evaluation</a:t>
            </a:r>
          </a:p>
        </p:txBody>
      </p:sp>
      <p:pic>
        <p:nvPicPr>
          <p:cNvPr id="13" name="Picture 12"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1E0838"/>
          </a:solidFill>
          <a:ln w="762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C084FC"/>
                </a:solidFill>
              </a:rPr>
              <a:t>ACCELDATA · PLATFORM &amp; ARCHITECTURE (M3)</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Enterprise Context Window</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What AI agents need to actually be useful</a:t>
            </a:r>
          </a:p>
        </p:txBody>
      </p:sp>
      <p:sp>
        <p:nvSpPr>
          <p:cNvPr id="6" name="TextBox 5"/>
          <p:cNvSpPr txBox="1"/>
          <p:nvPr/>
        </p:nvSpPr>
        <p:spPr>
          <a:xfrm>
            <a:off x="502920" y="2231136"/>
            <a:ext cx="5532120" cy="4489704"/>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Data Assets: Cloud, On-Prem, Hybrid · Structured, Streaming, Unstructured</a:t>
            </a:r>
          </a:p>
          <a:p>
            <a:pPr>
              <a:spcBef>
                <a:spcPts val="400"/>
              </a:spcBef>
            </a:pPr>
            <a:r>
              <a:rPr sz="1100">
                <a:solidFill>
                  <a:srgbClr val="06B6D4"/>
                </a:solidFill>
              </a:rPr>
              <a:t>→  </a:t>
            </a:r>
            <a:r>
              <a:rPr sz="1200">
                <a:solidFill>
                  <a:srgbClr val="94A3B8"/>
                </a:solidFill>
              </a:rPr>
              <a:t>Knowledge Bases: Legacy governance, data catalogs, business documents</a:t>
            </a:r>
          </a:p>
          <a:p>
            <a:pPr>
              <a:spcBef>
                <a:spcPts val="400"/>
              </a:spcBef>
            </a:pPr>
            <a:r>
              <a:rPr sz="1100">
                <a:solidFill>
                  <a:srgbClr val="06B6D4"/>
                </a:solidFill>
              </a:rPr>
              <a:t>→  </a:t>
            </a:r>
            <a:r>
              <a:rPr sz="1200">
                <a:solidFill>
                  <a:srgbClr val="94A3B8"/>
                </a:solidFill>
              </a:rPr>
              <a:t>Operational Artifacts: Alerts, tickets, runbooks</a:t>
            </a:r>
          </a:p>
          <a:p>
            <a:pPr>
              <a:spcBef>
                <a:spcPts val="400"/>
              </a:spcBef>
            </a:pPr>
            <a:r>
              <a:rPr sz="1100">
                <a:solidFill>
                  <a:srgbClr val="06B6D4"/>
                </a:solidFill>
              </a:rPr>
              <a:t>→  </a:t>
            </a:r>
            <a:r>
              <a:rPr sz="1200">
                <a:solidFill>
                  <a:srgbClr val="94A3B8"/>
                </a:solidFill>
              </a:rPr>
              <a:t>MCP (Model Context Protocol) is the connectivity layer that wires everything</a:t>
            </a:r>
          </a:p>
          <a:p>
            <a:pPr>
              <a:spcBef>
                <a:spcPts val="400"/>
              </a:spcBef>
            </a:pPr>
            <a:r>
              <a:rPr sz="1100">
                <a:solidFill>
                  <a:srgbClr val="06B6D4"/>
                </a:solidFill>
              </a:rPr>
              <a:t>→  </a:t>
            </a:r>
            <a:r>
              <a:rPr sz="1200">
                <a:solidFill>
                  <a:srgbClr val="94A3B8"/>
                </a:solidFill>
              </a:rPr>
              <a:t>Without this context, agents hallucinate or miss business-critical constraints</a:t>
            </a:r>
          </a:p>
        </p:txBody>
      </p:sp>
      <p:pic>
        <p:nvPicPr>
          <p:cNvPr id="7" name="Picture 6"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1E0838"/>
          </a:solidFill>
          <a:ln w="762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C084FC"/>
                </a:solidFill>
              </a:rPr>
              <a:t>DAY 3 PANEL · RETAIL TRACK (I3)</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What Actually Works in Practice</a:t>
            </a:r>
          </a:p>
        </p:txBody>
      </p:sp>
      <p:sp>
        <p:nvSpPr>
          <p:cNvPr id="5" name="TextBox 4"/>
          <p:cNvSpPr txBox="1"/>
          <p:nvPr/>
        </p:nvSpPr>
        <p:spPr>
          <a:xfrm>
            <a:off x="502920" y="1847088"/>
            <a:ext cx="5532120" cy="4873752"/>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You don't fail because of the technology — you fail because of data</a:t>
            </a:r>
          </a:p>
          <a:p>
            <a:pPr>
              <a:spcBef>
                <a:spcPts val="400"/>
              </a:spcBef>
            </a:pPr>
            <a:r>
              <a:rPr sz="1100">
                <a:solidFill>
                  <a:srgbClr val="06B6D4"/>
                </a:solidFill>
              </a:rPr>
              <a:t>→  </a:t>
            </a:r>
            <a:r>
              <a:rPr sz="1200">
                <a:solidFill>
                  <a:srgbClr val="94A3B8"/>
                </a:solidFill>
              </a:rPr>
              <a:t>Fix data, be relevant, get product data correct first</a:t>
            </a:r>
          </a:p>
          <a:p>
            <a:pPr>
              <a:spcBef>
                <a:spcPts val="400"/>
              </a:spcBef>
            </a:pPr>
            <a:r>
              <a:rPr sz="1100">
                <a:solidFill>
                  <a:srgbClr val="06B6D4"/>
                </a:solidFill>
              </a:rPr>
              <a:t>→  </a:t>
            </a:r>
            <a:r>
              <a:rPr sz="1200">
                <a:solidFill>
                  <a:srgbClr val="94A3B8"/>
                </a:solidFill>
              </a:rPr>
              <a:t>Know which Customer Data Platform (CDP) you need — or build your own</a:t>
            </a:r>
          </a:p>
          <a:p>
            <a:pPr>
              <a:spcBef>
                <a:spcPts val="400"/>
              </a:spcBef>
            </a:pPr>
            <a:r>
              <a:rPr sz="1100">
                <a:solidFill>
                  <a:srgbClr val="06B6D4"/>
                </a:solidFill>
              </a:rPr>
              <a:t>→  </a:t>
            </a:r>
            <a:r>
              <a:rPr sz="1200">
                <a:solidFill>
                  <a:srgbClr val="94A3B8"/>
                </a:solidFill>
              </a:rPr>
              <a:t>Choose AI vendors carefully — set clear rules on who does what</a:t>
            </a:r>
          </a:p>
          <a:p>
            <a:pPr>
              <a:spcBef>
                <a:spcPts val="400"/>
              </a:spcBef>
            </a:pPr>
            <a:r>
              <a:rPr sz="1100">
                <a:solidFill>
                  <a:srgbClr val="06B6D4"/>
                </a:solidFill>
              </a:rPr>
              <a:t>→  </a:t>
            </a:r>
            <a:r>
              <a:rPr sz="1200">
                <a:solidFill>
                  <a:srgbClr val="94A3B8"/>
                </a:solidFill>
              </a:rPr>
              <a:t>People need data literacy; tech people need business literacy</a:t>
            </a:r>
          </a:p>
          <a:p>
            <a:pPr>
              <a:spcBef>
                <a:spcPts val="400"/>
              </a:spcBef>
            </a:pPr>
            <a:r>
              <a:rPr sz="1100">
                <a:solidFill>
                  <a:srgbClr val="06B6D4"/>
                </a:solidFill>
              </a:rPr>
              <a:t>→  </a:t>
            </a:r>
            <a:r>
              <a:rPr sz="1200">
                <a:solidFill>
                  <a:srgbClr val="94A3B8"/>
                </a:solidFill>
              </a:rPr>
              <a:t>Involve everyone in experimentation — let them play with AI tools</a:t>
            </a:r>
          </a:p>
          <a:p>
            <a:pPr>
              <a:spcBef>
                <a:spcPts val="400"/>
              </a:spcBef>
            </a:pPr>
            <a:r>
              <a:rPr sz="1100">
                <a:solidFill>
                  <a:srgbClr val="06B6D4"/>
                </a:solidFill>
              </a:rPr>
              <a:t>→  </a:t>
            </a:r>
            <a:r>
              <a:rPr sz="1200">
                <a:solidFill>
                  <a:srgbClr val="94A3B8"/>
                </a:solidFill>
              </a:rPr>
              <a:t>Elgiganten example: personalization through testing, learning, improving</a:t>
            </a:r>
          </a:p>
        </p:txBody>
      </p:sp>
      <p:pic>
        <p:nvPicPr>
          <p:cNvPr id="6" name="Picture 5"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6217920" y="0"/>
            <a:ext cx="597377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5394960" cy="256032"/>
          </a:xfrm>
          <a:prstGeom prst="rect">
            <a:avLst/>
          </a:prstGeom>
          <a:solidFill>
            <a:srgbClr val="260505"/>
          </a:solidFill>
          <a:ln w="762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FCA5A5"/>
                </a:solidFill>
              </a:rPr>
              <a:t>ICA · ANALYTICS &amp; DECISION INTELLIGENCE (M5)</a:t>
            </a:r>
          </a:p>
        </p:txBody>
      </p:sp>
      <p:sp>
        <p:nvSpPr>
          <p:cNvPr id="4" name="TextBox 3"/>
          <p:cNvSpPr txBox="1"/>
          <p:nvPr/>
        </p:nvSpPr>
        <p:spPr>
          <a:xfrm>
            <a:off x="502920" y="841248"/>
            <a:ext cx="5532120" cy="960120"/>
          </a:xfrm>
          <a:prstGeom prst="rect">
            <a:avLst/>
          </a:prstGeom>
          <a:noFill/>
        </p:spPr>
        <p:txBody>
          <a:bodyPr wrap="square">
            <a:spAutoFit/>
          </a:bodyPr>
          <a:lstStyle/>
          <a:p>
            <a:pPr algn="l"/>
            <a:r>
              <a:rPr sz="2100" b="1" i="0">
                <a:solidFill>
                  <a:srgbClr val="F1F5F9"/>
                </a:solidFill>
              </a:rPr>
              <a:t>Taking a 100-Year-Old Company Into the Data Future</a:t>
            </a:r>
          </a:p>
        </p:txBody>
      </p:sp>
      <p:sp>
        <p:nvSpPr>
          <p:cNvPr id="5" name="TextBox 4"/>
          <p:cNvSpPr txBox="1"/>
          <p:nvPr/>
        </p:nvSpPr>
        <p:spPr>
          <a:xfrm>
            <a:off x="502920" y="1847088"/>
            <a:ext cx="5532120" cy="347472"/>
          </a:xfrm>
          <a:prstGeom prst="rect">
            <a:avLst/>
          </a:prstGeom>
          <a:noFill/>
        </p:spPr>
        <p:txBody>
          <a:bodyPr wrap="square">
            <a:spAutoFit/>
          </a:bodyPr>
          <a:lstStyle/>
          <a:p>
            <a:pPr algn="l"/>
            <a:r>
              <a:rPr sz="1200" b="0" i="0">
                <a:solidFill>
                  <a:srgbClr val="94A3B8"/>
                </a:solidFill>
              </a:rPr>
              <a:t>"It is not just about the data — we need the people on board!"</a:t>
            </a:r>
          </a:p>
        </p:txBody>
      </p:sp>
      <p:sp>
        <p:nvSpPr>
          <p:cNvPr id="6" name="TextBox 5"/>
          <p:cNvSpPr txBox="1"/>
          <p:nvPr/>
        </p:nvSpPr>
        <p:spPr>
          <a:xfrm>
            <a:off x="502920" y="2231136"/>
            <a:ext cx="5532120" cy="4489704"/>
          </a:xfrm>
          <a:prstGeom prst="rect">
            <a:avLst/>
          </a:prstGeom>
          <a:noFill/>
        </p:spPr>
        <p:txBody>
          <a:bodyPr wrap="square">
            <a:spAutoFit/>
          </a:bodyPr>
          <a:lstStyle/>
          <a:p>
            <a:pPr>
              <a:spcBef>
                <a:spcPts val="400"/>
              </a:spcBef>
            </a:pPr>
            <a:r>
              <a:rPr sz="1100">
                <a:solidFill>
                  <a:srgbClr val="06B6D4"/>
                </a:solidFill>
              </a:rPr>
              <a:t>→  </a:t>
            </a:r>
            <a:r>
              <a:rPr sz="1200">
                <a:solidFill>
                  <a:srgbClr val="94A3B8"/>
                </a:solidFill>
              </a:rPr>
              <a:t>A century of customer knowledge — but the methods have changed dramatically</a:t>
            </a:r>
          </a:p>
          <a:p>
            <a:pPr>
              <a:spcBef>
                <a:spcPts val="400"/>
              </a:spcBef>
            </a:pPr>
            <a:r>
              <a:rPr sz="1100">
                <a:solidFill>
                  <a:srgbClr val="06B6D4"/>
                </a:solidFill>
              </a:rPr>
              <a:t>→  </a:t>
            </a:r>
            <a:r>
              <a:rPr sz="1200">
                <a:solidFill>
                  <a:srgbClr val="94A3B8"/>
                </a:solidFill>
              </a:rPr>
              <a:t>The real challenge is the change journey, not the technology itself</a:t>
            </a:r>
          </a:p>
          <a:p>
            <a:pPr>
              <a:spcBef>
                <a:spcPts val="400"/>
              </a:spcBef>
            </a:pPr>
            <a:r>
              <a:rPr sz="1100">
                <a:solidFill>
                  <a:srgbClr val="06B6D4"/>
                </a:solidFill>
              </a:rPr>
              <a:t>→  </a:t>
            </a:r>
            <a:r>
              <a:rPr sz="1200">
                <a:solidFill>
                  <a:srgbClr val="94A3B8"/>
                </a:solidFill>
              </a:rPr>
              <a:t>Learning which tool to use when is a critical skill — not every tool fits every problem</a:t>
            </a:r>
          </a:p>
          <a:p>
            <a:pPr>
              <a:spcBef>
                <a:spcPts val="400"/>
              </a:spcBef>
            </a:pPr>
            <a:r>
              <a:rPr sz="1100">
                <a:solidFill>
                  <a:srgbClr val="06B6D4"/>
                </a:solidFill>
              </a:rPr>
              <a:t>→  </a:t>
            </a:r>
            <a:r>
              <a:rPr sz="1200">
                <a:solidFill>
                  <a:srgbClr val="94A3B8"/>
                </a:solidFill>
              </a:rPr>
              <a:t>People alignment is the actual barrier to data investment paying off</a:t>
            </a:r>
          </a:p>
          <a:p>
            <a:pPr>
              <a:spcBef>
                <a:spcPts val="400"/>
              </a:spcBef>
            </a:pPr>
            <a:r>
              <a:rPr sz="1100">
                <a:solidFill>
                  <a:srgbClr val="06B6D4"/>
                </a:solidFill>
              </a:rPr>
              <a:t>→  </a:t>
            </a:r>
            <a:r>
              <a:rPr sz="1200">
                <a:solidFill>
                  <a:srgbClr val="94A3B8"/>
                </a:solidFill>
              </a:rPr>
              <a:t>Hands-on methods and organizational learning beat top-down mandates</a:t>
            </a:r>
          </a:p>
          <a:p>
            <a:pPr>
              <a:spcBef>
                <a:spcPts val="400"/>
              </a:spcBef>
            </a:pPr>
            <a:r>
              <a:rPr sz="1100">
                <a:solidFill>
                  <a:srgbClr val="06B6D4"/>
                </a:solidFill>
              </a:rPr>
              <a:t>→  </a:t>
            </a:r>
            <a:r>
              <a:rPr sz="1200">
                <a:solidFill>
                  <a:srgbClr val="94A3B8"/>
                </a:solidFill>
              </a:rPr>
              <a:t>You need data literacy and the willingness to let people experiment</a:t>
            </a:r>
          </a:p>
        </p:txBody>
      </p:sp>
      <p:pic>
        <p:nvPicPr>
          <p:cNvPr id="7" name="Picture 6" descr="image.jpg"/>
          <p:cNvPicPr>
            <a:picLocks noChangeAspect="1"/>
          </p:cNvPicPr>
          <p:nvPr/>
        </p:nvPicPr>
        <p:blipFill>
          <a:blip r:embed="rId3"/>
          <a:stretch>
            <a:fillRect/>
          </a:stretch>
        </p:blipFill>
        <p:spPr>
          <a:xfrm>
            <a:off x="6464808" y="201168"/>
            <a:ext cx="5274259" cy="645566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502920" y="502920"/>
            <a:ext cx="5943600" cy="256032"/>
          </a:xfrm>
          <a:prstGeom prst="rect">
            <a:avLst/>
          </a:prstGeom>
          <a:solidFill>
            <a:srgbClr val="181002"/>
          </a:solidFill>
          <a:ln w="76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FBBF24"/>
                </a:solidFill>
              </a:rPr>
              <a:t>DAY 3 PANEL · RETAIL TRACK</a:t>
            </a:r>
          </a:p>
        </p:txBody>
      </p:sp>
      <p:sp>
        <p:nvSpPr>
          <p:cNvPr id="3" name="TextBox 2"/>
          <p:cNvSpPr txBox="1"/>
          <p:nvPr/>
        </p:nvSpPr>
        <p:spPr>
          <a:xfrm>
            <a:off x="502920" y="841248"/>
            <a:ext cx="11185855" cy="731520"/>
          </a:xfrm>
          <a:prstGeom prst="rect">
            <a:avLst/>
          </a:prstGeom>
          <a:noFill/>
        </p:spPr>
        <p:txBody>
          <a:bodyPr wrap="square">
            <a:spAutoFit/>
          </a:bodyPr>
          <a:lstStyle/>
          <a:p>
            <a:pPr algn="l"/>
            <a:r>
              <a:rPr sz="2600" b="1" i="0">
                <a:solidFill>
                  <a:srgbClr val="F1F5F9"/>
                </a:solidFill>
              </a:rPr>
              <a:t>Three Mantras to Take Home</a:t>
            </a:r>
          </a:p>
        </p:txBody>
      </p:sp>
      <p:pic>
        <p:nvPicPr>
          <p:cNvPr id="4" name="Picture 3" descr="image.jpg"/>
          <p:cNvPicPr>
            <a:picLocks noChangeAspect="1"/>
          </p:cNvPicPr>
          <p:nvPr/>
        </p:nvPicPr>
        <p:blipFill>
          <a:blip r:embed="rId3"/>
          <a:stretch>
            <a:fillRect/>
          </a:stretch>
        </p:blipFill>
        <p:spPr>
          <a:xfrm>
            <a:off x="502920" y="1645920"/>
            <a:ext cx="11185855" cy="1920240"/>
          </a:xfrm>
          <a:prstGeom prst="rect">
            <a:avLst/>
          </a:prstGeom>
        </p:spPr>
      </p:pic>
      <p:sp>
        <p:nvSpPr>
          <p:cNvPr id="5" name="Rectangle 4"/>
          <p:cNvSpPr/>
          <p:nvPr/>
        </p:nvSpPr>
        <p:spPr>
          <a:xfrm>
            <a:off x="502920" y="3657600"/>
            <a:ext cx="3606698" cy="306324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749040"/>
            <a:ext cx="3606698" cy="658368"/>
          </a:xfrm>
          <a:prstGeom prst="rect">
            <a:avLst/>
          </a:prstGeom>
          <a:noFill/>
        </p:spPr>
        <p:txBody>
          <a:bodyPr wrap="square">
            <a:spAutoFit/>
          </a:bodyPr>
          <a:lstStyle/>
          <a:p>
            <a:pPr algn="ctr"/>
            <a:r>
              <a:rPr sz="1300" b="1" i="0">
                <a:solidFill>
                  <a:srgbClr val="6366F1"/>
                </a:solidFill>
              </a:rPr>
              <a:t>ABT
Always Be Testing</a:t>
            </a:r>
          </a:p>
        </p:txBody>
      </p:sp>
      <p:sp>
        <p:nvSpPr>
          <p:cNvPr id="7" name="TextBox 6"/>
          <p:cNvSpPr txBox="1"/>
          <p:nvPr/>
        </p:nvSpPr>
        <p:spPr>
          <a:xfrm>
            <a:off x="502920" y="4434840"/>
            <a:ext cx="3606698" cy="2194560"/>
          </a:xfrm>
          <a:prstGeom prst="rect">
            <a:avLst/>
          </a:prstGeom>
          <a:noFill/>
        </p:spPr>
        <p:txBody>
          <a:bodyPr wrap="square">
            <a:spAutoFit/>
          </a:bodyPr>
          <a:lstStyle/>
          <a:p>
            <a:pPr algn="ctr"/>
            <a:r>
              <a:rPr sz="1000" b="0" i="0">
                <a:solidFill>
                  <a:srgbClr val="94A3B8"/>
                </a:solidFill>
              </a:rPr>
              <a:t>Small iterations · Fail fast · Learn</a:t>
            </a:r>
          </a:p>
        </p:txBody>
      </p:sp>
      <p:sp>
        <p:nvSpPr>
          <p:cNvPr id="8" name="Rectangle 7"/>
          <p:cNvSpPr/>
          <p:nvPr/>
        </p:nvSpPr>
        <p:spPr>
          <a:xfrm>
            <a:off x="4292498" y="3657600"/>
            <a:ext cx="3606698" cy="306324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2498" y="3749040"/>
            <a:ext cx="3606698" cy="658368"/>
          </a:xfrm>
          <a:prstGeom prst="rect">
            <a:avLst/>
          </a:prstGeom>
          <a:noFill/>
        </p:spPr>
        <p:txBody>
          <a:bodyPr wrap="square">
            <a:spAutoFit/>
          </a:bodyPr>
          <a:lstStyle/>
          <a:p>
            <a:pPr algn="ctr"/>
            <a:r>
              <a:rPr sz="1300" b="1" i="0">
                <a:solidFill>
                  <a:srgbClr val="818CF8"/>
                </a:solidFill>
              </a:rPr>
              <a:t>"What you cannot
measure doesn't exist"</a:t>
            </a:r>
          </a:p>
        </p:txBody>
      </p:sp>
      <p:sp>
        <p:nvSpPr>
          <p:cNvPr id="10" name="TextBox 9"/>
          <p:cNvSpPr txBox="1"/>
          <p:nvPr/>
        </p:nvSpPr>
        <p:spPr>
          <a:xfrm>
            <a:off x="4292498" y="4434840"/>
            <a:ext cx="3606698" cy="2194560"/>
          </a:xfrm>
          <a:prstGeom prst="rect">
            <a:avLst/>
          </a:prstGeom>
          <a:noFill/>
        </p:spPr>
        <p:txBody>
          <a:bodyPr wrap="square">
            <a:spAutoFit/>
          </a:bodyPr>
          <a:lstStyle/>
          <a:p>
            <a:pPr algn="ctr"/>
            <a:r>
              <a:rPr sz="1000" b="0" i="0">
                <a:solidFill>
                  <a:srgbClr val="94A3B8"/>
                </a:solidFill>
              </a:rPr>
              <a:t>Track what matters · Instrument everything</a:t>
            </a:r>
          </a:p>
        </p:txBody>
      </p:sp>
      <p:sp>
        <p:nvSpPr>
          <p:cNvPr id="11" name="Rectangle 10"/>
          <p:cNvSpPr/>
          <p:nvPr/>
        </p:nvSpPr>
        <p:spPr>
          <a:xfrm>
            <a:off x="8082076" y="3657600"/>
            <a:ext cx="3606698" cy="3063240"/>
          </a:xfrm>
          <a:prstGeom prst="rect">
            <a:avLst/>
          </a:prstGeom>
          <a:solidFill>
            <a:srgbClr val="111827"/>
          </a:solidFill>
          <a:ln w="6350">
            <a:solidFill>
              <a:srgbClr val="2A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82076" y="3749040"/>
            <a:ext cx="3606698" cy="658368"/>
          </a:xfrm>
          <a:prstGeom prst="rect">
            <a:avLst/>
          </a:prstGeom>
          <a:noFill/>
        </p:spPr>
        <p:txBody>
          <a:bodyPr wrap="square">
            <a:spAutoFit/>
          </a:bodyPr>
          <a:lstStyle/>
          <a:p>
            <a:pPr algn="ctr"/>
            <a:r>
              <a:rPr sz="1300" b="1" i="0">
                <a:solidFill>
                  <a:srgbClr val="F59E0B"/>
                </a:solidFill>
              </a:rPr>
              <a:t>Progress
&gt; Perfection</a:t>
            </a:r>
          </a:p>
        </p:txBody>
      </p:sp>
      <p:sp>
        <p:nvSpPr>
          <p:cNvPr id="13" name="TextBox 12"/>
          <p:cNvSpPr txBox="1"/>
          <p:nvPr/>
        </p:nvSpPr>
        <p:spPr>
          <a:xfrm>
            <a:off x="8082076" y="4434840"/>
            <a:ext cx="3606698" cy="2194560"/>
          </a:xfrm>
          <a:prstGeom prst="rect">
            <a:avLst/>
          </a:prstGeom>
          <a:noFill/>
        </p:spPr>
        <p:txBody>
          <a:bodyPr wrap="square">
            <a:spAutoFit/>
          </a:bodyPr>
          <a:lstStyle/>
          <a:p>
            <a:pPr algn="ctr"/>
            <a:r>
              <a:rPr sz="1000" b="0" i="0">
                <a:solidFill>
                  <a:srgbClr val="94A3B8"/>
                </a:solidFill>
              </a:rPr>
              <a:t>Ship · Observe · Improve
Don't wait for perfect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502920" y="502920"/>
            <a:ext cx="5943600" cy="256032"/>
          </a:xfrm>
          <a:prstGeom prst="rect">
            <a:avLst/>
          </a:prstGeom>
          <a:solidFill>
            <a:srgbClr val="260505"/>
          </a:solidFill>
          <a:ln w="762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F87171"/>
                </a:solidFill>
              </a:rPr>
              <a:t>FOR OUR TEAM</a:t>
            </a:r>
          </a:p>
        </p:txBody>
      </p:sp>
      <p:sp>
        <p:nvSpPr>
          <p:cNvPr id="3" name="TextBox 2"/>
          <p:cNvSpPr txBox="1"/>
          <p:nvPr/>
        </p:nvSpPr>
        <p:spPr>
          <a:xfrm>
            <a:off x="502920" y="841248"/>
            <a:ext cx="11185855" cy="841248"/>
          </a:xfrm>
          <a:prstGeom prst="rect">
            <a:avLst/>
          </a:prstGeom>
          <a:noFill/>
        </p:spPr>
        <p:txBody>
          <a:bodyPr wrap="square">
            <a:spAutoFit/>
          </a:bodyPr>
          <a:lstStyle/>
          <a:p>
            <a:pPr algn="l"/>
            <a:r>
              <a:rPr sz="2800" b="1" i="0">
                <a:solidFill>
                  <a:srgbClr val="F1F5F9"/>
                </a:solidFill>
              </a:rPr>
              <a:t>What This Means for Data Engineers</a:t>
            </a:r>
          </a:p>
        </p:txBody>
      </p:sp>
      <p:sp>
        <p:nvSpPr>
          <p:cNvPr id="4" name="Rectangle 3"/>
          <p:cNvSpPr/>
          <p:nvPr/>
        </p:nvSpPr>
        <p:spPr>
          <a:xfrm>
            <a:off x="502920" y="1737360"/>
            <a:ext cx="11185855" cy="923544"/>
          </a:xfrm>
          <a:prstGeom prst="rect">
            <a:avLst/>
          </a:prstGeom>
          <a:solidFill>
            <a:srgbClr val="111827"/>
          </a:solidFill>
          <a:ln w="63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755648"/>
            <a:ext cx="411480" cy="923544"/>
          </a:xfrm>
          <a:prstGeom prst="rect">
            <a:avLst/>
          </a:prstGeom>
          <a:noFill/>
        </p:spPr>
        <p:txBody>
          <a:bodyPr wrap="square">
            <a:spAutoFit/>
          </a:bodyPr>
          <a:lstStyle/>
          <a:p>
            <a:pPr algn="l"/>
            <a:r>
              <a:rPr sz="1600" b="1" i="0">
                <a:solidFill>
                  <a:srgbClr val="6366F1"/>
                </a:solidFill>
              </a:rPr>
              <a:t>01</a:t>
            </a:r>
          </a:p>
        </p:txBody>
      </p:sp>
      <p:sp>
        <p:nvSpPr>
          <p:cNvPr id="6" name="TextBox 5"/>
          <p:cNvSpPr txBox="1"/>
          <p:nvPr/>
        </p:nvSpPr>
        <p:spPr>
          <a:xfrm>
            <a:off x="1051560" y="1755648"/>
            <a:ext cx="10545775" cy="274320"/>
          </a:xfrm>
          <a:prstGeom prst="rect">
            <a:avLst/>
          </a:prstGeom>
          <a:noFill/>
        </p:spPr>
        <p:txBody>
          <a:bodyPr wrap="square">
            <a:spAutoFit/>
          </a:bodyPr>
          <a:lstStyle/>
          <a:p>
            <a:pPr algn="l"/>
            <a:r>
              <a:rPr sz="1100" b="1" i="0">
                <a:solidFill>
                  <a:srgbClr val="F1F5F9"/>
                </a:solidFill>
              </a:rPr>
              <a:t>Fix the data before adding AI</a:t>
            </a:r>
          </a:p>
        </p:txBody>
      </p:sp>
      <p:sp>
        <p:nvSpPr>
          <p:cNvPr id="7" name="TextBox 6"/>
          <p:cNvSpPr txBox="1"/>
          <p:nvPr/>
        </p:nvSpPr>
        <p:spPr>
          <a:xfrm>
            <a:off x="1051560" y="2048256"/>
            <a:ext cx="10545775" cy="576072"/>
          </a:xfrm>
          <a:prstGeom prst="rect">
            <a:avLst/>
          </a:prstGeom>
          <a:noFill/>
        </p:spPr>
        <p:txBody>
          <a:bodyPr wrap="square">
            <a:spAutoFit/>
          </a:bodyPr>
          <a:lstStyle/>
          <a:p>
            <a:pPr algn="l"/>
            <a:r>
              <a:rPr sz="950" b="0" i="0">
                <a:solidFill>
                  <a:srgbClr val="94A3B8"/>
                </a:solidFill>
              </a:rPr>
              <a:t>AI amplifies good data and bad data equally. Clean, classified data is the prerequisite — not an afterthought. (Meta, Day 3 Panel)</a:t>
            </a:r>
          </a:p>
        </p:txBody>
      </p:sp>
      <p:sp>
        <p:nvSpPr>
          <p:cNvPr id="8" name="Rectangle 7"/>
          <p:cNvSpPr/>
          <p:nvPr/>
        </p:nvSpPr>
        <p:spPr>
          <a:xfrm>
            <a:off x="502920" y="2734056"/>
            <a:ext cx="11185855" cy="923544"/>
          </a:xfrm>
          <a:prstGeom prst="rect">
            <a:avLst/>
          </a:prstGeom>
          <a:solidFill>
            <a:srgbClr val="111827"/>
          </a:solidFill>
          <a:ln w="63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752344"/>
            <a:ext cx="411480" cy="923544"/>
          </a:xfrm>
          <a:prstGeom prst="rect">
            <a:avLst/>
          </a:prstGeom>
          <a:noFill/>
        </p:spPr>
        <p:txBody>
          <a:bodyPr wrap="square">
            <a:spAutoFit/>
          </a:bodyPr>
          <a:lstStyle/>
          <a:p>
            <a:pPr algn="l"/>
            <a:r>
              <a:rPr sz="1600" b="1" i="0">
                <a:solidFill>
                  <a:srgbClr val="6366F1"/>
                </a:solidFill>
              </a:rPr>
              <a:t>02</a:t>
            </a:r>
          </a:p>
        </p:txBody>
      </p:sp>
      <p:sp>
        <p:nvSpPr>
          <p:cNvPr id="10" name="TextBox 9"/>
          <p:cNvSpPr txBox="1"/>
          <p:nvPr/>
        </p:nvSpPr>
        <p:spPr>
          <a:xfrm>
            <a:off x="1051560" y="2752344"/>
            <a:ext cx="10545775" cy="274320"/>
          </a:xfrm>
          <a:prstGeom prst="rect">
            <a:avLst/>
          </a:prstGeom>
          <a:noFill/>
        </p:spPr>
        <p:txBody>
          <a:bodyPr wrap="square">
            <a:spAutoFit/>
          </a:bodyPr>
          <a:lstStyle/>
          <a:p>
            <a:pPr algn="l"/>
            <a:r>
              <a:rPr sz="1100" b="1" i="0">
                <a:solidFill>
                  <a:srgbClr val="F1F5F9"/>
                </a:solidFill>
              </a:rPr>
              <a:t>Invest in metadata — it's the foundation of every agentic system</a:t>
            </a:r>
          </a:p>
        </p:txBody>
      </p:sp>
      <p:sp>
        <p:nvSpPr>
          <p:cNvPr id="11" name="TextBox 10"/>
          <p:cNvSpPr txBox="1"/>
          <p:nvPr/>
        </p:nvSpPr>
        <p:spPr>
          <a:xfrm>
            <a:off x="1051560" y="3044952"/>
            <a:ext cx="10545775" cy="576072"/>
          </a:xfrm>
          <a:prstGeom prst="rect">
            <a:avLst/>
          </a:prstGeom>
          <a:noFill/>
        </p:spPr>
        <p:txBody>
          <a:bodyPr wrap="square">
            <a:spAutoFit/>
          </a:bodyPr>
          <a:lstStyle/>
          <a:p>
            <a:pPr algn="l"/>
            <a:r>
              <a:rPr sz="950" b="0" i="0">
                <a:solidFill>
                  <a:srgbClr val="94A3B8"/>
                </a:solidFill>
              </a:rPr>
              <a:t>Knowledge fabric = metadata fabric. Cataloging, lineage, and semantic classification are not nice-to-haves. (Ab Initio, Meta)</a:t>
            </a:r>
          </a:p>
        </p:txBody>
      </p:sp>
      <p:sp>
        <p:nvSpPr>
          <p:cNvPr id="12" name="Rectangle 11"/>
          <p:cNvSpPr/>
          <p:nvPr/>
        </p:nvSpPr>
        <p:spPr>
          <a:xfrm>
            <a:off x="502920" y="3730752"/>
            <a:ext cx="11185855" cy="923544"/>
          </a:xfrm>
          <a:prstGeom prst="rect">
            <a:avLst/>
          </a:prstGeom>
          <a:solidFill>
            <a:srgbClr val="111827"/>
          </a:solidFill>
          <a:ln w="63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749040"/>
            <a:ext cx="411480" cy="923544"/>
          </a:xfrm>
          <a:prstGeom prst="rect">
            <a:avLst/>
          </a:prstGeom>
          <a:noFill/>
        </p:spPr>
        <p:txBody>
          <a:bodyPr wrap="square">
            <a:spAutoFit/>
          </a:bodyPr>
          <a:lstStyle/>
          <a:p>
            <a:pPr algn="l"/>
            <a:r>
              <a:rPr sz="1600" b="1" i="0">
                <a:solidFill>
                  <a:srgbClr val="6366F1"/>
                </a:solidFill>
              </a:rPr>
              <a:t>03</a:t>
            </a:r>
          </a:p>
        </p:txBody>
      </p:sp>
      <p:sp>
        <p:nvSpPr>
          <p:cNvPr id="14" name="TextBox 13"/>
          <p:cNvSpPr txBox="1"/>
          <p:nvPr/>
        </p:nvSpPr>
        <p:spPr>
          <a:xfrm>
            <a:off x="1051560" y="3749040"/>
            <a:ext cx="10545775" cy="274320"/>
          </a:xfrm>
          <a:prstGeom prst="rect">
            <a:avLst/>
          </a:prstGeom>
          <a:noFill/>
        </p:spPr>
        <p:txBody>
          <a:bodyPr wrap="square">
            <a:spAutoFit/>
          </a:bodyPr>
          <a:lstStyle/>
          <a:p>
            <a:pPr algn="l"/>
            <a:r>
              <a:rPr sz="1100" b="1" i="0">
                <a:solidFill>
                  <a:srgbClr val="F1F5F9"/>
                </a:solidFill>
              </a:rPr>
              <a:t>MCP is becoming the integration standard — evaluate it now</a:t>
            </a:r>
          </a:p>
        </p:txBody>
      </p:sp>
      <p:sp>
        <p:nvSpPr>
          <p:cNvPr id="15" name="TextBox 14"/>
          <p:cNvSpPr txBox="1"/>
          <p:nvPr/>
        </p:nvSpPr>
        <p:spPr>
          <a:xfrm>
            <a:off x="1051560" y="4041648"/>
            <a:ext cx="10545775" cy="576072"/>
          </a:xfrm>
          <a:prstGeom prst="rect">
            <a:avLst/>
          </a:prstGeom>
          <a:noFill/>
        </p:spPr>
        <p:txBody>
          <a:bodyPr wrap="square">
            <a:spAutoFit/>
          </a:bodyPr>
          <a:lstStyle/>
          <a:p>
            <a:pPr algn="l"/>
            <a:r>
              <a:rPr sz="950" b="0" i="0">
                <a:solidFill>
                  <a:srgbClr val="94A3B8"/>
                </a:solidFill>
              </a:rPr>
              <a:t>Model Context Protocol appeared in every agentic architecture at the summit. Assess it for our stack. (Google, Acceldata, Ab Initio)</a:t>
            </a:r>
          </a:p>
        </p:txBody>
      </p:sp>
      <p:sp>
        <p:nvSpPr>
          <p:cNvPr id="16" name="Rectangle 15"/>
          <p:cNvSpPr/>
          <p:nvPr/>
        </p:nvSpPr>
        <p:spPr>
          <a:xfrm>
            <a:off x="502920" y="4727448"/>
            <a:ext cx="11185855" cy="923544"/>
          </a:xfrm>
          <a:prstGeom prst="rect">
            <a:avLst/>
          </a:prstGeom>
          <a:solidFill>
            <a:srgbClr val="111827"/>
          </a:solidFill>
          <a:ln w="63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745736"/>
            <a:ext cx="411480" cy="923544"/>
          </a:xfrm>
          <a:prstGeom prst="rect">
            <a:avLst/>
          </a:prstGeom>
          <a:noFill/>
        </p:spPr>
        <p:txBody>
          <a:bodyPr wrap="square">
            <a:spAutoFit/>
          </a:bodyPr>
          <a:lstStyle/>
          <a:p>
            <a:pPr algn="l"/>
            <a:r>
              <a:rPr sz="1600" b="1" i="0">
                <a:solidFill>
                  <a:srgbClr val="6366F1"/>
                </a:solidFill>
              </a:rPr>
              <a:t>04</a:t>
            </a:r>
          </a:p>
        </p:txBody>
      </p:sp>
      <p:sp>
        <p:nvSpPr>
          <p:cNvPr id="18" name="TextBox 17"/>
          <p:cNvSpPr txBox="1"/>
          <p:nvPr/>
        </p:nvSpPr>
        <p:spPr>
          <a:xfrm>
            <a:off x="1051560" y="4745736"/>
            <a:ext cx="10545775" cy="274320"/>
          </a:xfrm>
          <a:prstGeom prst="rect">
            <a:avLst/>
          </a:prstGeom>
          <a:noFill/>
        </p:spPr>
        <p:txBody>
          <a:bodyPr wrap="square">
            <a:spAutoFit/>
          </a:bodyPr>
          <a:lstStyle/>
          <a:p>
            <a:pPr algn="l"/>
            <a:r>
              <a:rPr sz="1100" b="1" i="0">
                <a:solidFill>
                  <a:srgbClr val="F1F5F9"/>
                </a:solidFill>
              </a:rPr>
              <a:t>Right-size your models — frontier isn't always the answer</a:t>
            </a:r>
          </a:p>
        </p:txBody>
      </p:sp>
      <p:sp>
        <p:nvSpPr>
          <p:cNvPr id="19" name="TextBox 18"/>
          <p:cNvSpPr txBox="1"/>
          <p:nvPr/>
        </p:nvSpPr>
        <p:spPr>
          <a:xfrm>
            <a:off x="1051560" y="5038344"/>
            <a:ext cx="10545775" cy="576072"/>
          </a:xfrm>
          <a:prstGeom prst="rect">
            <a:avLst/>
          </a:prstGeom>
          <a:noFill/>
        </p:spPr>
        <p:txBody>
          <a:bodyPr wrap="square">
            <a:spAutoFit/>
          </a:bodyPr>
          <a:lstStyle/>
          <a:p>
            <a:pPr algn="l"/>
            <a:r>
              <a:rPr sz="950" b="0" i="0">
                <a:solidFill>
                  <a:srgbClr val="94A3B8"/>
                </a:solidFill>
              </a:rPr>
              <a:t>Use lightweight open-source models where they're sufficient. Frontier models cost more in tokens and infra. (NVIDIA)</a:t>
            </a:r>
          </a:p>
        </p:txBody>
      </p:sp>
      <p:sp>
        <p:nvSpPr>
          <p:cNvPr id="20" name="Rectangle 19"/>
          <p:cNvSpPr/>
          <p:nvPr/>
        </p:nvSpPr>
        <p:spPr>
          <a:xfrm>
            <a:off x="502920" y="5724144"/>
            <a:ext cx="11185855" cy="923544"/>
          </a:xfrm>
          <a:prstGeom prst="rect">
            <a:avLst/>
          </a:prstGeom>
          <a:solidFill>
            <a:srgbClr val="111827"/>
          </a:solidFill>
          <a:ln w="63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742432"/>
            <a:ext cx="411480" cy="923544"/>
          </a:xfrm>
          <a:prstGeom prst="rect">
            <a:avLst/>
          </a:prstGeom>
          <a:noFill/>
        </p:spPr>
        <p:txBody>
          <a:bodyPr wrap="square">
            <a:spAutoFit/>
          </a:bodyPr>
          <a:lstStyle/>
          <a:p>
            <a:pPr algn="l"/>
            <a:r>
              <a:rPr sz="1600" b="1" i="0">
                <a:solidFill>
                  <a:srgbClr val="6366F1"/>
                </a:solidFill>
              </a:rPr>
              <a:t>05</a:t>
            </a:r>
          </a:p>
        </p:txBody>
      </p:sp>
      <p:sp>
        <p:nvSpPr>
          <p:cNvPr id="22" name="TextBox 21"/>
          <p:cNvSpPr txBox="1"/>
          <p:nvPr/>
        </p:nvSpPr>
        <p:spPr>
          <a:xfrm>
            <a:off x="1051560" y="5742432"/>
            <a:ext cx="10545775" cy="274320"/>
          </a:xfrm>
          <a:prstGeom prst="rect">
            <a:avLst/>
          </a:prstGeom>
          <a:noFill/>
        </p:spPr>
        <p:txBody>
          <a:bodyPr wrap="square">
            <a:spAutoFit/>
          </a:bodyPr>
          <a:lstStyle/>
          <a:p>
            <a:pPr algn="l"/>
            <a:r>
              <a:rPr sz="1100" b="1" i="0">
                <a:solidFill>
                  <a:srgbClr val="F1F5F9"/>
                </a:solidFill>
              </a:rPr>
              <a:t>Build data literacy — it's now everyone's job</a:t>
            </a:r>
          </a:p>
        </p:txBody>
      </p:sp>
      <p:sp>
        <p:nvSpPr>
          <p:cNvPr id="23" name="TextBox 22"/>
          <p:cNvSpPr txBox="1"/>
          <p:nvPr/>
        </p:nvSpPr>
        <p:spPr>
          <a:xfrm>
            <a:off x="1051560" y="6035040"/>
            <a:ext cx="10545775" cy="576072"/>
          </a:xfrm>
          <a:prstGeom prst="rect">
            <a:avLst/>
          </a:prstGeom>
          <a:noFill/>
        </p:spPr>
        <p:txBody>
          <a:bodyPr wrap="square">
            <a:spAutoFit/>
          </a:bodyPr>
          <a:lstStyle/>
          <a:p>
            <a:pPr algn="l"/>
            <a:r>
              <a:rPr sz="950" b="0" i="0">
                <a:solidFill>
                  <a:srgbClr val="94A3B8"/>
                </a:solidFill>
              </a:rPr>
              <a:t>Data engineers need business context. Business users need data literacy. This cultural gap is the real blocker. (Panel)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C18"/>
        </a:solidFill>
        <a:effectLst/>
      </p:bgPr>
    </p:bg>
    <p:spTree>
      <p:nvGrpSpPr>
        <p:cNvPr id="1" name=""/>
        <p:cNvGrpSpPr/>
        <p:nvPr/>
      </p:nvGrpSpPr>
      <p:grpSpPr/>
      <p:sp>
        <p:nvSpPr>
          <p:cNvPr id="2" name="Rectangle 1"/>
          <p:cNvSpPr/>
          <p:nvPr/>
        </p:nvSpPr>
        <p:spPr>
          <a:xfrm>
            <a:off x="3200400" y="822960"/>
            <a:ext cx="5760720" cy="256032"/>
          </a:xfrm>
          <a:prstGeom prst="rect">
            <a:avLst/>
          </a:prstGeom>
          <a:solidFill>
            <a:srgbClr val="02141E"/>
          </a:solidFill>
          <a:ln w="762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lIns="73152" tIns="0" bIns="0"/>
          <a:lstStyle/>
          <a:p>
            <a:pPr algn="ctr"/>
            <a:r>
              <a:rPr sz="750" b="1">
                <a:solidFill>
                  <a:srgbClr val="22D3EE"/>
                </a:solidFill>
              </a:rPr>
              <a:t>DATA INNOVATION SUMMIT 2026 · STOCKHOLM</a:t>
            </a:r>
          </a:p>
        </p:txBody>
      </p:sp>
      <p:sp>
        <p:nvSpPr>
          <p:cNvPr id="3" name="TextBox 2"/>
          <p:cNvSpPr txBox="1"/>
          <p:nvPr/>
        </p:nvSpPr>
        <p:spPr>
          <a:xfrm>
            <a:off x="502920" y="1234440"/>
            <a:ext cx="11185855" cy="1463040"/>
          </a:xfrm>
          <a:prstGeom prst="rect">
            <a:avLst/>
          </a:prstGeom>
          <a:noFill/>
        </p:spPr>
        <p:txBody>
          <a:bodyPr wrap="square">
            <a:spAutoFit/>
          </a:bodyPr>
          <a:lstStyle/>
          <a:p>
            <a:pPr algn="ctr"/>
            <a:r>
              <a:rPr sz="5200" b="1" i="0">
                <a:solidFill>
                  <a:srgbClr val="F1F5F9"/>
                </a:solidFill>
              </a:rPr>
              <a:t>Thank You</a:t>
            </a:r>
          </a:p>
        </p:txBody>
      </p:sp>
      <p:sp>
        <p:nvSpPr>
          <p:cNvPr id="4" name="TextBox 3"/>
          <p:cNvSpPr txBox="1"/>
          <p:nvPr/>
        </p:nvSpPr>
        <p:spPr>
          <a:xfrm>
            <a:off x="502920" y="2788920"/>
            <a:ext cx="11185855" cy="457200"/>
          </a:xfrm>
          <a:prstGeom prst="rect">
            <a:avLst/>
          </a:prstGeom>
          <a:noFill/>
        </p:spPr>
        <p:txBody>
          <a:bodyPr wrap="square">
            <a:spAutoFit/>
          </a:bodyPr>
          <a:lstStyle/>
          <a:p>
            <a:pPr algn="ctr"/>
            <a:r>
              <a:rPr sz="1600" b="0" i="0">
                <a:solidFill>
                  <a:srgbClr val="94A3B8"/>
                </a:solidFill>
              </a:rPr>
              <a:t>Questions? Full session notes available on request.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